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7" r:id="rId3"/>
    <p:sldId id="275" r:id="rId4"/>
    <p:sldId id="274" r:id="rId5"/>
    <p:sldId id="278" r:id="rId6"/>
    <p:sldId id="281" r:id="rId7"/>
    <p:sldId id="282" r:id="rId8"/>
    <p:sldId id="283" r:id="rId9"/>
    <p:sldId id="285" r:id="rId10"/>
    <p:sldId id="280" r:id="rId11"/>
    <p:sldId id="284" r:id="rId12"/>
    <p:sldId id="286" r:id="rId13"/>
    <p:sldId id="288" r:id="rId14"/>
    <p:sldId id="290" r:id="rId15"/>
    <p:sldId id="289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howGuides="1">
      <p:cViewPr varScale="1">
        <p:scale>
          <a:sx n="79" d="100"/>
          <a:sy n="79" d="100"/>
        </p:scale>
        <p:origin x="710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940" y="1988840"/>
            <a:ext cx="8761079" cy="1659161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ECG signals denoising technique based on the combination of particle swarm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wavelet transform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93436" y="1772816"/>
            <a:ext cx="9782801" cy="3744416"/>
          </a:xfrm>
        </p:spPr>
        <p:txBody>
          <a:bodyPr/>
          <a:lstStyle/>
          <a:p>
            <a:r>
              <a:rPr lang="en-US" dirty="0"/>
              <a:t>Electrocardiogram (ECG) signals represent the electrical activity of the heart</a:t>
            </a:r>
          </a:p>
          <a:p>
            <a:r>
              <a:rPr lang="en-US" dirty="0"/>
              <a:t>ECG signals are non-stationary in nature</a:t>
            </a:r>
          </a:p>
          <a:p>
            <a:r>
              <a:rPr lang="en-US" dirty="0"/>
              <a:t>They are often corrupted by noise during acquisition</a:t>
            </a:r>
          </a:p>
          <a:p>
            <a:r>
              <a:rPr lang="en-IN" dirty="0"/>
              <a:t>Noise affects diagnosis accuracy</a:t>
            </a:r>
          </a:p>
          <a:p>
            <a:r>
              <a:rPr lang="en-US" dirty="0"/>
              <a:t>Therefore, effective noise removal is essential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69B3-49DF-B82B-AEB5-FE6F7ADEB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D0EFA-7DF3-2A7E-DDAF-2F2744CDC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problem is to effectively remove noise from non-stationary ECG signals without distorting important cardiac features by optimally selecting wavelet denoising parameters.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08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8401-1A0A-8515-BF8E-48A6D7C0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09D32-11FD-BB70-877B-7659A965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Main Objective:</a:t>
            </a:r>
          </a:p>
          <a:p>
            <a:pPr lvl="1"/>
            <a:r>
              <a:rPr lang="en-US" dirty="0"/>
              <a:t>To reduce noise in ECG signals using Wavelet Transform</a:t>
            </a:r>
            <a:endParaRPr lang="en-IN" dirty="0"/>
          </a:p>
          <a:p>
            <a:r>
              <a:rPr lang="en-IN" dirty="0"/>
              <a:t>Sub Objectives:</a:t>
            </a:r>
            <a:endParaRPr lang="en-US" dirty="0"/>
          </a:p>
          <a:p>
            <a:pPr lvl="1"/>
            <a:r>
              <a:rPr lang="en-US" dirty="0"/>
              <a:t>Decompose ECG signal into multiple levels</a:t>
            </a:r>
          </a:p>
          <a:p>
            <a:pPr lvl="1"/>
            <a:r>
              <a:rPr lang="en-US" dirty="0"/>
              <a:t>Apply thresholding to remove noise</a:t>
            </a:r>
          </a:p>
          <a:p>
            <a:pPr lvl="1"/>
            <a:r>
              <a:rPr lang="en-IN" dirty="0"/>
              <a:t>Reconstruct denoised ECG signal</a:t>
            </a:r>
          </a:p>
        </p:txBody>
      </p:sp>
    </p:spTree>
    <p:extLst>
      <p:ext uri="{BB962C8B-B14F-4D97-AF65-F5344CB8AC3E}">
        <p14:creationId xmlns:p14="http://schemas.microsoft.com/office/powerpoint/2010/main" val="324390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0625-AA24-3E2D-76F1-CE59374A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Noise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46F1-A301-0BFA-2114-9FAF57C9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signal is acquired or transmitted over a distance, it is frequently contaminated by noise due to environmental and system-related factors.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additive noise model, the observed (contaminated) signal is expressed as: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ECGnoisy(n)=s(n)+δe(n)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s(n) </a:t>
            </a:r>
            <a:r>
              <a:rPr lang="en-US" dirty="0"/>
              <a:t>represents the clean ECG signal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i="1" dirty="0"/>
              <a:t>e(n) </a:t>
            </a:r>
            <a:r>
              <a:rPr lang="en-IN" dirty="0"/>
              <a:t>represents the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δ</a:t>
            </a:r>
            <a:r>
              <a:rPr lang="en-US" dirty="0"/>
              <a:t> represents the amplitude of the noise,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n</a:t>
            </a:r>
            <a:r>
              <a:rPr lang="en-US" dirty="0"/>
              <a:t> is the sample number</a:t>
            </a:r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12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D5A8-2FD0-73FF-9FF9-D9FD7BFB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0223E0-9ED1-B831-030F-D7A55B30B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850" y="1691216"/>
            <a:ext cx="9782175" cy="438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1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0802-3AFF-77FA-1BAD-2847E64D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548680"/>
            <a:ext cx="9782801" cy="65293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53C255-4F89-25F3-2CD4-2AC4C360EB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3435" y="1556792"/>
                <a:ext cx="9782801" cy="4572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decomposition phase aims to separate the ECG signal into different frequency sub-bands:</a:t>
                </a: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8720" lvl="2" indent="-457200"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Approximation Coefficients(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- (Low-Frequency Component)</a:t>
                </a:r>
              </a:p>
              <a:p>
                <a:pPr marL="1188720" lvl="2" indent="-457200"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Detail Coefficients(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-  High-Frequency Component</a:t>
                </a:r>
              </a:p>
              <a:p>
                <a:pPr marL="731520" lvl="2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ECG signal is decomposed into L levels.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each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signal is divided into two components:</a:t>
                </a:r>
              </a:p>
              <a:p>
                <a:pPr marL="1188720" lvl="2" indent="-457200"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Approximation coefficients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8720" lvl="2" indent="-457200"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Detail coefficients </a:t>
                </a:r>
                <a14:m>
                  <m:oMath xmlns:m="http://schemas.openxmlformats.org/officeDocument/2006/math">
                    <m:r>
                      <a:rPr lang="en-IN" b="0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the approximation coefficients are further decomposed in the next level.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53C255-4F89-25F3-2CD4-2AC4C360EB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3435" y="1556792"/>
                <a:ext cx="9782801" cy="4572000"/>
              </a:xfrm>
              <a:blipFill>
                <a:blip r:embed="rId2"/>
                <a:stretch>
                  <a:fillRect l="-1308" t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99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1EFE-EBF5-4251-2CC2-0841CCBF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3FB125-DBE6-8F7D-E36D-095DA6F6794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Approximation coefficients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3FB125-DBE6-8F7D-E36D-095DA6F67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896" b="-14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666EF7-E0C8-EE40-AAFF-93BC1BFE60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06787" y="2514600"/>
            <a:ext cx="3324689" cy="733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7A04473-351F-D73C-CC96-FC432DFCE2AD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886500" y="1499616"/>
                <a:ext cx="4818888" cy="938784"/>
              </a:xfrm>
            </p:spPr>
            <p:txBody>
              <a:bodyPr/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Detail coefficients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7A04473-351F-D73C-CC96-FC432DFCE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886500" y="1499616"/>
                <a:ext cx="4818888" cy="938784"/>
              </a:xfrm>
              <a:blipFill>
                <a:blip r:embed="rId4"/>
                <a:stretch>
                  <a:fillRect l="-2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258B164-D7CA-A6D6-2386-EF402EB5942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7351803" y="2459904"/>
            <a:ext cx="2953162" cy="695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B34D67-E29F-65C1-CFBC-F0D10D349E70}"/>
                  </a:ext>
                </a:extLst>
              </p:cNvPr>
              <p:cNvSpPr txBox="1"/>
              <p:nvPr/>
            </p:nvSpPr>
            <p:spPr>
              <a:xfrm>
                <a:off x="1596748" y="3403938"/>
                <a:ext cx="481888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(t): Approximation coefficients at </a:t>
                </a:r>
                <a:r>
                  <a:rPr lang="fr-F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decomposition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</a:t>
                </a:r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−1​(k): Approximation coefficients from the previous level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shifiting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function at level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summation index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B34D67-E29F-65C1-CFBC-F0D10D349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748" y="3403938"/>
                <a:ext cx="4818888" cy="2862322"/>
              </a:xfrm>
              <a:prstGeom prst="rect">
                <a:avLst/>
              </a:prstGeom>
              <a:blipFill>
                <a:blip r:embed="rId6"/>
                <a:stretch>
                  <a:fillRect l="-886" t="-10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4E7EFA-E320-3773-048D-4E19FBABBDDB}"/>
                  </a:ext>
                </a:extLst>
              </p:cNvPr>
              <p:cNvSpPr txBox="1"/>
              <p:nvPr/>
            </p:nvSpPr>
            <p:spPr>
              <a:xfrm>
                <a:off x="6886500" y="3248127"/>
                <a:ext cx="448973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Detail coefficients at decomposition level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1​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Approximation coefficients from the previous level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ψ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scaling function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summation index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4E7EFA-E320-3773-048D-4E19FBABB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500" y="3248127"/>
                <a:ext cx="4489737" cy="2862322"/>
              </a:xfrm>
              <a:prstGeom prst="rect">
                <a:avLst/>
              </a:prstGeom>
              <a:blipFill>
                <a:blip r:embed="rId7"/>
                <a:stretch>
                  <a:fillRect l="-951" t="-1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71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A9AF-62A0-DE8D-7E16-FA7E32DD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13D451-1346-B67C-57B7-9A63AFA9D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6463" y="1556792"/>
            <a:ext cx="5696745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495C-80C3-9776-68D0-85B172878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116632"/>
            <a:ext cx="9782801" cy="7969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F7852-56EE-E169-1E94-2E073BB96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5900" y="913581"/>
                <a:ext cx="9890337" cy="5258619"/>
              </a:xfrm>
            </p:spPr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threshold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calculated using the universal threshold (square-root log) method</a:t>
                </a:r>
              </a:p>
              <a:p>
                <a:pPr marL="1828800" lvl="5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  <m:func>
                          <m:func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N" b="1" i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rad>
                  </m:oMath>
                </a14:m>
                <a:endParaRPr lang="en-IN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:endParaRPr lang="en-IN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ar-A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→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Threshold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sup>
                      </m:sSup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wavelet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scale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Nj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​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→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Length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noisy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signal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sup>
                      </m:sSup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scale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Estimated noise standard deviation at scale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IN" b="1" i="1" dirty="0" err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IN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b="1" i="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MAD</m:t>
                            </m:r>
                          </m:e>
                          <m:sub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𝟔𝟕𝟒𝟓</m:t>
                        </m:r>
                      </m:den>
                    </m:f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median</m:t>
                        </m:r>
                        <m:d>
                          <m:dPr>
                            <m:ctrlPr>
                              <a:rPr lang="en-IN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1" i="1" dirty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𝟔𝟕𝟒𝟓</m:t>
                        </m:r>
                      </m:den>
                    </m:f>
                  </m:oMath>
                </a14:m>
                <a:endParaRPr lang="en-IN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:endParaRPr lang="en-IN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5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MAD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 Absolute Deviation </a:t>
                </a:r>
              </a:p>
              <a:p>
                <a:pPr marL="1828800" lvl="5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Wavelet coefficients at scale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4F7852-56EE-E169-1E94-2E073BB96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913581"/>
                <a:ext cx="9890337" cy="5258619"/>
              </a:xfrm>
              <a:blipFill>
                <a:blip r:embed="rId2"/>
                <a:stretch>
                  <a:fillRect l="-1480" t="-3013" r="-13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67E536-1624-D4AD-D29C-B52653B7D707}"/>
              </a:ext>
            </a:extLst>
          </p:cNvPr>
          <p:cNvSpPr txBox="1"/>
          <p:nvPr/>
        </p:nvSpPr>
        <p:spPr>
          <a:xfrm>
            <a:off x="5638800" y="297581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93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914A-0C11-63A8-8E5B-47D55755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923" y="104220"/>
            <a:ext cx="9782801" cy="6540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0BBC8-FFD2-6110-DE7E-987F8C375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884" y="880000"/>
            <a:ext cx="4818888" cy="521568"/>
          </a:xfrm>
        </p:spPr>
        <p:txBody>
          <a:bodyPr/>
          <a:lstStyle/>
          <a:p>
            <a:r>
              <a:rPr lang="en-IN" dirty="0"/>
              <a:t>Soft Thresholding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A386F54-46E2-B848-FF6C-B078E09A65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89956" y="1523298"/>
            <a:ext cx="2880320" cy="313526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D654A-8C20-A4A8-D4FA-4A553E10F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5654" y="584514"/>
            <a:ext cx="4818888" cy="938784"/>
          </a:xfrm>
        </p:spPr>
        <p:txBody>
          <a:bodyPr/>
          <a:lstStyle/>
          <a:p>
            <a:r>
              <a:rPr lang="en-IN" dirty="0"/>
              <a:t>Hard Thresholding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CC3BAE-7062-E866-8244-E7735A38788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70476" y="1600993"/>
            <a:ext cx="3079254" cy="30575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EE6193-F495-39DB-8FCE-01B12EB5F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476" y="5013176"/>
            <a:ext cx="3658111" cy="7335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A8A1C6-F589-B173-9E37-729AB4C8B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964" y="5141210"/>
            <a:ext cx="2962688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5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7017C-F46F-D88D-F451-53C6BA18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2" y="141462"/>
            <a:ext cx="9782801" cy="7969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5B2D9F-6E7B-93D2-2965-32047047641E}"/>
                  </a:ext>
                </a:extLst>
              </p:cNvPr>
              <p:cNvSpPr txBox="1"/>
              <p:nvPr/>
            </p:nvSpPr>
            <p:spPr>
              <a:xfrm>
                <a:off x="2890056" y="1045773"/>
                <a:ext cx="6408712" cy="6058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𝑬𝑪</m:t>
                      </m:r>
                      <m:sSub>
                        <m:sSub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 b="1" i="0">
                              <a:latin typeface="Cambria Math" panose="02040503050406030204" pitchFamily="18" charset="0"/>
                            </a:rPr>
                            <m:t>denoised</m:t>
                          </m:r>
                        </m:sub>
                      </m:sSub>
                      <m:d>
                        <m:d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IN" sz="1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</m:nary>
                      <m:r>
                        <a:rPr lang="en-IN" sz="1400" b="1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1400" b="1" i="1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sSub>
                                    <m:sSubPr>
                                      <m:ctrlPr>
                                        <a:rPr lang="en-I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lang="en-IN" sz="1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IN" sz="1400" b="1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5B2D9F-6E7B-93D2-2965-320470476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56" y="1045773"/>
                <a:ext cx="6408712" cy="605807"/>
              </a:xfrm>
              <a:prstGeom prst="rect">
                <a:avLst/>
              </a:prstGeom>
              <a:blipFill>
                <a:blip r:embed="rId2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55A141-4A53-335F-E84C-645FE7B53C57}"/>
                  </a:ext>
                </a:extLst>
              </p:cNvPr>
              <p:cNvSpPr txBox="1"/>
              <p:nvPr/>
            </p:nvSpPr>
            <p:spPr>
              <a:xfrm>
                <a:off x="2890056" y="2204864"/>
                <a:ext cx="7267188" cy="3181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𝐸𝐶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denoised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Reconstructed (denoised) ECG signal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Approximation coefficients at final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𝑐𝐷</m:t>
                            </m:r>
                          </m:e>
                        </m:acc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</a:t>
                </a:r>
                <a:r>
                  <a:rPr lang="en-US" dirty="0" err="1"/>
                  <a:t>Thresholded</a:t>
                </a:r>
                <a:r>
                  <a:rPr lang="en-US" dirty="0"/>
                  <a:t> detail coefficients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ϕ(t) → Scaling (low-pass)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Wavelet (high-pass)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 → Total number of decomposition levels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55A141-4A53-335F-E84C-645FE7B53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56" y="2204864"/>
                <a:ext cx="7267188" cy="3181833"/>
              </a:xfrm>
              <a:prstGeom prst="rect">
                <a:avLst/>
              </a:prstGeom>
              <a:blipFill>
                <a:blip r:embed="rId3"/>
                <a:stretch>
                  <a:fillRect l="-503" t="-1533" b="-2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75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A348-AE67-E7C9-6C43-9F8CC1F01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CCA35D-D525-1024-6560-D6BB1DB6C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850" y="1617097"/>
            <a:ext cx="9782175" cy="453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3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51BC-6D34-04EA-550A-3D923ADC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DEFEF-DBA5-2417-CF08-15C3E1696C24}"/>
              </a:ext>
            </a:extLst>
          </p:cNvPr>
          <p:cNvSpPr txBox="1"/>
          <p:nvPr/>
        </p:nvSpPr>
        <p:spPr>
          <a:xfrm>
            <a:off x="1192248" y="2132856"/>
            <a:ext cx="10585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ECG signals are affected by noise like WGN and Power Line Interference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Wavelet Transform is good for ECG denoising.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method improves ECG quality by giving higher SNR and lower PRD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approach performs and removes both PLI and WGN noise effectively</a:t>
            </a:r>
          </a:p>
        </p:txBody>
      </p:sp>
    </p:spTree>
    <p:extLst>
      <p:ext uri="{BB962C8B-B14F-4D97-AF65-F5344CB8AC3E}">
        <p14:creationId xmlns:p14="http://schemas.microsoft.com/office/powerpoint/2010/main" val="253776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A34D-D775-4337-FDA2-E947E7FB6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284" y="2780928"/>
            <a:ext cx="2664296" cy="648072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9318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160</TotalTime>
  <Words>555</Words>
  <Application>Microsoft Office PowerPoint</Application>
  <PresentationFormat>Custom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Euphemia</vt:lpstr>
      <vt:lpstr>Times New Roman</vt:lpstr>
      <vt:lpstr>Math 16x9</vt:lpstr>
      <vt:lpstr>An efficient ECG signals denoising technique based on the combination of particle swarm optimisation and wavelet transform</vt:lpstr>
      <vt:lpstr>Introduction</vt:lpstr>
      <vt:lpstr>Problem Statement</vt:lpstr>
      <vt:lpstr>Objectives</vt:lpstr>
      <vt:lpstr>Noise Model </vt:lpstr>
      <vt:lpstr>Methodology</vt:lpstr>
      <vt:lpstr>Decomposition</vt:lpstr>
      <vt:lpstr>Decomposition</vt:lpstr>
      <vt:lpstr>Total workflow</vt:lpstr>
      <vt:lpstr>Thresholding</vt:lpstr>
      <vt:lpstr>Thresholding</vt:lpstr>
      <vt:lpstr>Reconstruction</vt:lpstr>
      <vt:lpstr>Downsampling and Upsampling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Namburi</dc:creator>
  <cp:lastModifiedBy>KARLAPATI SREESHANTH</cp:lastModifiedBy>
  <cp:revision>3</cp:revision>
  <dcterms:created xsi:type="dcterms:W3CDTF">2026-01-22T07:50:42Z</dcterms:created>
  <dcterms:modified xsi:type="dcterms:W3CDTF">2026-01-22T10:32:28Z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