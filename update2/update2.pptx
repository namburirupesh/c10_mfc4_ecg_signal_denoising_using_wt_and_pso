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7" r:id="rId3"/>
    <p:sldId id="284" r:id="rId4"/>
    <p:sldId id="285" r:id="rId5"/>
    <p:sldId id="286" r:id="rId6"/>
    <p:sldId id="287" r:id="rId7"/>
    <p:sldId id="288" r:id="rId8"/>
    <p:sldId id="289" r:id="rId9"/>
    <p:sldId id="279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  <p15:guide id="6" pos="1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howGuides="1">
      <p:cViewPr varScale="1">
        <p:scale>
          <a:sx n="119" d="100"/>
          <a:sy n="119" d="100"/>
        </p:scale>
        <p:origin x="96" y="414"/>
      </p:cViewPr>
      <p:guideLst>
        <p:guide orient="horz" pos="2160"/>
        <p:guide pos="3839"/>
        <p:guide pos="100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B7646E-8811-423A-9C42-2CBFADA00A96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60E59-1627-4404-ACC5-51C744AB0F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2254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D677E230-58DD-43ED-96A1-552DDAB53532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841221E5-7225-48EB-A4EE-420E7BFCF7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ltGray">
          <a:xfrm>
            <a:off x="121888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 bwMode="gray">
          <a:xfrm>
            <a:off x="0" y="0"/>
            <a:ext cx="1218883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3" name="Straight Connector 12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15" name="Straight Connector 14"/>
          <p:cNvCxnSpPr/>
          <p:nvPr/>
        </p:nvCxnSpPr>
        <p:spPr bwMode="white">
          <a:xfrm>
            <a:off x="1218884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white">
          <a:xfrm>
            <a:off x="0" y="5631204"/>
            <a:ext cx="182832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8669" y="1600200"/>
            <a:ext cx="8329031" cy="2680127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28669" y="4344915"/>
            <a:ext cx="7516442" cy="11160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412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5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5532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black">
          <a:xfrm>
            <a:off x="11579384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 bwMode="gray">
          <a:xfrm>
            <a:off x="11274663" y="5638800"/>
            <a:ext cx="304721" cy="1219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 bwMode="gray">
          <a:xfrm>
            <a:off x="1216152" y="5638800"/>
            <a:ext cx="609441" cy="1219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 bwMode="ltGray">
          <a:xfrm>
            <a:off x="0" y="5638800"/>
            <a:ext cx="12188825" cy="12192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22" name="Straight Connector 21"/>
          <p:cNvCxnSpPr/>
          <p:nvPr/>
        </p:nvCxnSpPr>
        <p:spPr bwMode="white">
          <a:xfrm>
            <a:off x="11573293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 bwMode="black">
          <a:xfrm>
            <a:off x="0" y="5643132"/>
            <a:ext cx="1216152" cy="1214868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8" name="Pi"/>
          <p:cNvSpPr>
            <a:spLocks/>
          </p:cNvSpPr>
          <p:nvPr/>
        </p:nvSpPr>
        <p:spPr bwMode="white">
          <a:xfrm>
            <a:off x="276462" y="6032500"/>
            <a:ext cx="593189" cy="519176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square" lIns="121899" tIns="60949" rIns="121899" bIns="60949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23" name="Straight Connector 22"/>
          <p:cNvCxnSpPr/>
          <p:nvPr/>
        </p:nvCxnSpPr>
        <p:spPr bwMode="white">
          <a:xfrm>
            <a:off x="1216152" y="5638800"/>
            <a:ext cx="0" cy="12192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 bwMode="black">
          <a:xfrm>
            <a:off x="11579384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 bwMode="gray">
          <a:xfrm>
            <a:off x="11274663" y="0"/>
            <a:ext cx="304721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 bwMode="gray">
          <a:xfrm>
            <a:off x="1218883" y="0"/>
            <a:ext cx="609441" cy="60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-2" y="0"/>
            <a:ext cx="1218883" cy="6096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 bwMode="ltGray">
          <a:xfrm>
            <a:off x="0" y="0"/>
            <a:ext cx="12188825" cy="609600"/>
          </a:xfrm>
          <a:prstGeom prst="rect">
            <a:avLst/>
          </a:prstGeom>
          <a:solidFill>
            <a:schemeClr val="accent1">
              <a:lumMod val="7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1" name="Straight Connector 30"/>
          <p:cNvCxnSpPr/>
          <p:nvPr/>
        </p:nvCxnSpPr>
        <p:spPr bwMode="white">
          <a:xfrm>
            <a:off x="11573293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 bwMode="black">
          <a:xfrm>
            <a:off x="0" y="0"/>
            <a:ext cx="1216152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cxnSp>
        <p:nvCxnSpPr>
          <p:cNvPr id="33" name="Straight Connector 32"/>
          <p:cNvCxnSpPr/>
          <p:nvPr/>
        </p:nvCxnSpPr>
        <p:spPr bwMode="white">
          <a:xfrm>
            <a:off x="1218884" y="0"/>
            <a:ext cx="0" cy="6096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3" y="1600201"/>
            <a:ext cx="8283272" cy="2654064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8613" y="4259996"/>
            <a:ext cx="7264623" cy="115020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66571" y="6356351"/>
            <a:ext cx="609441" cy="36512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467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93436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61651" y="1600200"/>
            <a:ext cx="4814586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 baseline="0"/>
            </a:lvl6pPr>
            <a:lvl7pPr>
              <a:defRPr sz="1800" baseline="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9113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93436" y="2514706"/>
            <a:ext cx="4814586" cy="365749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57349" y="1499616"/>
            <a:ext cx="4818888" cy="93878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57349" y="2514600"/>
            <a:ext cx="4818888" cy="365556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3835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63578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ltGray">
          <a:xfrm>
            <a:off x="626239" y="0"/>
            <a:ext cx="30472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6" name="Rectangle 5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7" name="Straight Connector 6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gray">
          <a:xfrm>
            <a:off x="10969942" y="0"/>
            <a:ext cx="922621" cy="6858000"/>
          </a:xfrm>
          <a:prstGeom prst="rect">
            <a:avLst/>
          </a:prstGeom>
          <a:solidFill>
            <a:schemeClr val="accent1">
              <a:lumMod val="75000"/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black">
          <a:xfrm>
            <a:off x="11892563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C1BBB0-96F0-4077-A278-0F3FB5C104D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38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>
            <a:off x="621792" y="0"/>
            <a:ext cx="4147717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621792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0251" y="482600"/>
            <a:ext cx="6195986" cy="56896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 baseline="0"/>
            </a:lvl8pPr>
            <a:lvl9pPr>
              <a:defRPr sz="18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8043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9" name="Rectangle 8"/>
          <p:cNvSpPr/>
          <p:nvPr/>
        </p:nvSpPr>
        <p:spPr bwMode="ltGray">
          <a:xfrm>
            <a:off x="4875530" y="0"/>
            <a:ext cx="7017034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240" y="381000"/>
            <a:ext cx="3293422" cy="1371600"/>
          </a:xfrm>
        </p:spPr>
        <p:txBody>
          <a:bodyPr anchor="b">
            <a:normAutofit/>
          </a:bodyPr>
          <a:lstStyle>
            <a:lvl1pPr algn="l">
              <a:defRPr sz="2800" b="0" cap="all" baseline="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 bwMode="auto">
          <a:xfrm>
            <a:off x="5180251" y="482600"/>
            <a:ext cx="6195986" cy="5689600"/>
          </a:xfrm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 baseline="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4240" y="1828800"/>
            <a:ext cx="3293422" cy="43434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 bwMode="white">
          <a:xfrm>
            <a:off x="11879867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900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0880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black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Straight Connector 10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"/>
          <p:cNvSpPr>
            <a:spLocks/>
          </p:cNvSpPr>
          <p:nvPr/>
        </p:nvSpPr>
        <p:spPr bwMode="white">
          <a:xfrm rot="5400000"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9612" y="685800"/>
            <a:ext cx="1787526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98613" y="685800"/>
            <a:ext cx="7848599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6F8EA-316C-41DE-B9A4-EDCC3A85ED9A}" type="datetimeFigureOut">
              <a:rPr lang="en-US"/>
              <a:t>2/23/2026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1BBB0-96F0-4077-A278-0F3FB5C104D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281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1884104" y="0"/>
            <a:ext cx="304721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/>
          </a:p>
        </p:txBody>
      </p:sp>
      <p:sp>
        <p:nvSpPr>
          <p:cNvPr id="8" name="Rectangle 7"/>
          <p:cNvSpPr/>
          <p:nvPr/>
        </p:nvSpPr>
        <p:spPr bwMode="ltGray">
          <a:xfrm>
            <a:off x="617143" y="0"/>
            <a:ext cx="60944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 bwMode="gray">
          <a:xfrm>
            <a:off x="0" y="0"/>
            <a:ext cx="609441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 bwMode="black">
          <a:xfrm>
            <a:off x="617143" y="736219"/>
            <a:ext cx="609441" cy="609600"/>
          </a:xfrm>
          <a:prstGeom prst="rect">
            <a:avLst/>
          </a:prstGeom>
          <a:solidFill>
            <a:schemeClr val="accent1">
              <a:lumMod val="50000"/>
              <a:alpha val="7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Straight Connector 13"/>
          <p:cNvCxnSpPr/>
          <p:nvPr/>
        </p:nvCxnSpPr>
        <p:spPr bwMode="white">
          <a:xfrm>
            <a:off x="617143" y="7362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white">
          <a:xfrm>
            <a:off x="617143" y="1345819"/>
            <a:ext cx="60944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"/>
          <p:cNvSpPr>
            <a:spLocks/>
          </p:cNvSpPr>
          <p:nvPr/>
        </p:nvSpPr>
        <p:spPr bwMode="white">
          <a:xfrm>
            <a:off x="756095" y="898102"/>
            <a:ext cx="336023" cy="294097"/>
          </a:xfrm>
          <a:custGeom>
            <a:avLst/>
            <a:gdLst>
              <a:gd name="T0" fmla="*/ 411 w 426"/>
              <a:gd name="T1" fmla="*/ 0 h 372"/>
              <a:gd name="T2" fmla="*/ 90 w 426"/>
              <a:gd name="T3" fmla="*/ 0 h 372"/>
              <a:gd name="T4" fmla="*/ 3 w 426"/>
              <a:gd name="T5" fmla="*/ 64 h 372"/>
              <a:gd name="T6" fmla="*/ 12 w 426"/>
              <a:gd name="T7" fmla="*/ 83 h 372"/>
              <a:gd name="T8" fmla="*/ 17 w 426"/>
              <a:gd name="T9" fmla="*/ 83 h 372"/>
              <a:gd name="T10" fmla="*/ 31 w 426"/>
              <a:gd name="T11" fmla="*/ 73 h 372"/>
              <a:gd name="T12" fmla="*/ 90 w 426"/>
              <a:gd name="T13" fmla="*/ 30 h 372"/>
              <a:gd name="T14" fmla="*/ 131 w 426"/>
              <a:gd name="T15" fmla="*/ 30 h 372"/>
              <a:gd name="T16" fmla="*/ 61 w 426"/>
              <a:gd name="T17" fmla="*/ 334 h 372"/>
              <a:gd name="T18" fmla="*/ 61 w 426"/>
              <a:gd name="T19" fmla="*/ 355 h 372"/>
              <a:gd name="T20" fmla="*/ 72 w 426"/>
              <a:gd name="T21" fmla="*/ 359 h 372"/>
              <a:gd name="T22" fmla="*/ 83 w 426"/>
              <a:gd name="T23" fmla="*/ 355 h 372"/>
              <a:gd name="T24" fmla="*/ 161 w 426"/>
              <a:gd name="T25" fmla="*/ 30 h 372"/>
              <a:gd name="T26" fmla="*/ 272 w 426"/>
              <a:gd name="T27" fmla="*/ 30 h 372"/>
              <a:gd name="T28" fmla="*/ 253 w 426"/>
              <a:gd name="T29" fmla="*/ 270 h 372"/>
              <a:gd name="T30" fmla="*/ 277 w 426"/>
              <a:gd name="T31" fmla="*/ 355 h 372"/>
              <a:gd name="T32" fmla="*/ 322 w 426"/>
              <a:gd name="T33" fmla="*/ 372 h 372"/>
              <a:gd name="T34" fmla="*/ 335 w 426"/>
              <a:gd name="T35" fmla="*/ 371 h 372"/>
              <a:gd name="T36" fmla="*/ 417 w 426"/>
              <a:gd name="T37" fmla="*/ 280 h 372"/>
              <a:gd name="T38" fmla="*/ 406 w 426"/>
              <a:gd name="T39" fmla="*/ 262 h 372"/>
              <a:gd name="T40" fmla="*/ 388 w 426"/>
              <a:gd name="T41" fmla="*/ 273 h 372"/>
              <a:gd name="T42" fmla="*/ 331 w 426"/>
              <a:gd name="T43" fmla="*/ 341 h 372"/>
              <a:gd name="T44" fmla="*/ 298 w 426"/>
              <a:gd name="T45" fmla="*/ 333 h 372"/>
              <a:gd name="T46" fmla="*/ 283 w 426"/>
              <a:gd name="T47" fmla="*/ 272 h 372"/>
              <a:gd name="T48" fmla="*/ 302 w 426"/>
              <a:gd name="T49" fmla="*/ 30 h 372"/>
              <a:gd name="T50" fmla="*/ 411 w 426"/>
              <a:gd name="T51" fmla="*/ 30 h 372"/>
              <a:gd name="T52" fmla="*/ 426 w 426"/>
              <a:gd name="T53" fmla="*/ 15 h 372"/>
              <a:gd name="T54" fmla="*/ 411 w 426"/>
              <a:gd name="T55" fmla="*/ 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26" h="372">
                <a:moveTo>
                  <a:pt x="411" y="0"/>
                </a:moveTo>
                <a:cubicBezTo>
                  <a:pt x="90" y="0"/>
                  <a:pt x="90" y="0"/>
                  <a:pt x="90" y="0"/>
                </a:cubicBezTo>
                <a:cubicBezTo>
                  <a:pt x="25" y="0"/>
                  <a:pt x="4" y="61"/>
                  <a:pt x="3" y="64"/>
                </a:cubicBezTo>
                <a:cubicBezTo>
                  <a:pt x="0" y="71"/>
                  <a:pt x="4" y="80"/>
                  <a:pt x="12" y="83"/>
                </a:cubicBezTo>
                <a:cubicBezTo>
                  <a:pt x="14" y="83"/>
                  <a:pt x="15" y="83"/>
                  <a:pt x="17" y="83"/>
                </a:cubicBezTo>
                <a:cubicBezTo>
                  <a:pt x="23" y="83"/>
                  <a:pt x="29" y="80"/>
                  <a:pt x="31" y="73"/>
                </a:cubicBezTo>
                <a:cubicBezTo>
                  <a:pt x="31" y="73"/>
                  <a:pt x="46" y="30"/>
                  <a:pt x="90" y="30"/>
                </a:cubicBezTo>
                <a:cubicBezTo>
                  <a:pt x="131" y="30"/>
                  <a:pt x="131" y="30"/>
                  <a:pt x="131" y="30"/>
                </a:cubicBezTo>
                <a:cubicBezTo>
                  <a:pt x="129" y="83"/>
                  <a:pt x="118" y="274"/>
                  <a:pt x="61" y="334"/>
                </a:cubicBezTo>
                <a:cubicBezTo>
                  <a:pt x="55" y="340"/>
                  <a:pt x="55" y="350"/>
                  <a:pt x="61" y="355"/>
                </a:cubicBezTo>
                <a:cubicBezTo>
                  <a:pt x="64" y="358"/>
                  <a:pt x="68" y="359"/>
                  <a:pt x="72" y="359"/>
                </a:cubicBezTo>
                <a:cubicBezTo>
                  <a:pt x="76" y="359"/>
                  <a:pt x="80" y="358"/>
                  <a:pt x="83" y="355"/>
                </a:cubicBezTo>
                <a:cubicBezTo>
                  <a:pt x="148" y="286"/>
                  <a:pt x="159" y="84"/>
                  <a:pt x="161" y="30"/>
                </a:cubicBezTo>
                <a:cubicBezTo>
                  <a:pt x="272" y="30"/>
                  <a:pt x="272" y="30"/>
                  <a:pt x="272" y="30"/>
                </a:cubicBezTo>
                <a:cubicBezTo>
                  <a:pt x="253" y="270"/>
                  <a:pt x="253" y="270"/>
                  <a:pt x="253" y="270"/>
                </a:cubicBezTo>
                <a:cubicBezTo>
                  <a:pt x="253" y="272"/>
                  <a:pt x="248" y="327"/>
                  <a:pt x="277" y="355"/>
                </a:cubicBezTo>
                <a:cubicBezTo>
                  <a:pt x="289" y="366"/>
                  <a:pt x="304" y="372"/>
                  <a:pt x="322" y="372"/>
                </a:cubicBezTo>
                <a:cubicBezTo>
                  <a:pt x="326" y="372"/>
                  <a:pt x="330" y="372"/>
                  <a:pt x="335" y="371"/>
                </a:cubicBezTo>
                <a:cubicBezTo>
                  <a:pt x="398" y="362"/>
                  <a:pt x="416" y="283"/>
                  <a:pt x="417" y="280"/>
                </a:cubicBezTo>
                <a:cubicBezTo>
                  <a:pt x="419" y="271"/>
                  <a:pt x="414" y="264"/>
                  <a:pt x="406" y="262"/>
                </a:cubicBezTo>
                <a:cubicBezTo>
                  <a:pt x="398" y="260"/>
                  <a:pt x="390" y="265"/>
                  <a:pt x="388" y="273"/>
                </a:cubicBezTo>
                <a:cubicBezTo>
                  <a:pt x="388" y="274"/>
                  <a:pt x="373" y="335"/>
                  <a:pt x="331" y="341"/>
                </a:cubicBezTo>
                <a:cubicBezTo>
                  <a:pt x="316" y="343"/>
                  <a:pt x="306" y="341"/>
                  <a:pt x="298" y="333"/>
                </a:cubicBezTo>
                <a:cubicBezTo>
                  <a:pt x="282" y="318"/>
                  <a:pt x="282" y="284"/>
                  <a:pt x="283" y="272"/>
                </a:cubicBezTo>
                <a:cubicBezTo>
                  <a:pt x="302" y="30"/>
                  <a:pt x="302" y="30"/>
                  <a:pt x="302" y="30"/>
                </a:cubicBezTo>
                <a:cubicBezTo>
                  <a:pt x="411" y="30"/>
                  <a:pt x="411" y="30"/>
                  <a:pt x="411" y="30"/>
                </a:cubicBezTo>
                <a:cubicBezTo>
                  <a:pt x="419" y="30"/>
                  <a:pt x="426" y="24"/>
                  <a:pt x="426" y="15"/>
                </a:cubicBezTo>
                <a:cubicBezTo>
                  <a:pt x="426" y="7"/>
                  <a:pt x="419" y="0"/>
                  <a:pt x="4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/>
          </a:p>
        </p:txBody>
      </p:sp>
      <p:cxnSp>
        <p:nvCxnSpPr>
          <p:cNvPr id="16" name="Straight Connector 15"/>
          <p:cNvCxnSpPr/>
          <p:nvPr/>
        </p:nvCxnSpPr>
        <p:spPr bwMode="white">
          <a:xfrm>
            <a:off x="61714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93436" y="177800"/>
            <a:ext cx="9782801" cy="1239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93436" y="1600200"/>
            <a:ext cx="9782801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80250" y="6356351"/>
            <a:ext cx="12188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C2C6F8EA-316C-41DE-B9A4-EDCC3A85ED9A}" type="datetimeFigureOut">
              <a:rPr lang="en-US" smtClean="0"/>
              <a:pPr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5933" y="6356351"/>
            <a:ext cx="39740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6796" y="6356351"/>
            <a:ext cx="6094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all" baseline="0">
                <a:solidFill>
                  <a:schemeClr val="tx1"/>
                </a:solidFill>
              </a:defRPr>
            </a:lvl1pPr>
          </a:lstStyle>
          <a:p>
            <a:fld id="{7DC1BBB0-96F0-4077-A278-0F3FB5C104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2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14400" rtl="0" eaLnBrk="1" latinLnBrk="0" hangingPunct="1">
        <a:lnSpc>
          <a:spcPct val="90000"/>
        </a:lnSpc>
        <a:spcBef>
          <a:spcPts val="1400"/>
        </a:spcBef>
        <a:buFont typeface="Euphemia" pitchFamily="34" charset="0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126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784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246888" algn="l" defTabSz="914400" rtl="0" eaLnBrk="1" latinLnBrk="0" hangingPunct="1">
        <a:lnSpc>
          <a:spcPct val="90000"/>
        </a:lnSpc>
        <a:spcBef>
          <a:spcPts val="6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70992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07568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44144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80720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172968" indent="-246888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›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5940" y="1988840"/>
            <a:ext cx="8761079" cy="1659161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efficient ECG signals denoising technique based on the combination of particle swarm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optimisation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wavelet transform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69876" y="20198"/>
            <a:ext cx="9782801" cy="835942"/>
          </a:xfrm>
        </p:spPr>
        <p:txBody>
          <a:bodyPr/>
          <a:lstStyle/>
          <a:p>
            <a:r>
              <a:rPr lang="en-US" dirty="0"/>
              <a:t>Update: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413892" y="1268760"/>
            <a:ext cx="9962345" cy="5184576"/>
          </a:xfrm>
        </p:spPr>
        <p:txBody>
          <a:bodyPr>
            <a:normAutofit/>
          </a:bodyPr>
          <a:lstStyle/>
          <a:p>
            <a:r>
              <a:rPr lang="en-IN" dirty="0"/>
              <a:t>PSO (Particle Swarm Optimization)</a:t>
            </a:r>
          </a:p>
          <a:p>
            <a:endParaRPr lang="en-IN" dirty="0"/>
          </a:p>
          <a:p>
            <a:r>
              <a:rPr lang="en-IN" dirty="0"/>
              <a:t>Orthogonality demonstration for wavelet basis</a:t>
            </a:r>
          </a:p>
          <a:p>
            <a:endParaRPr lang="en-US" dirty="0"/>
          </a:p>
          <a:p>
            <a:r>
              <a:rPr lang="en-US" dirty="0"/>
              <a:t>Write functions for shifting and Scaling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496DC-107B-4C11-619C-EDD206325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3011" y="20198"/>
            <a:ext cx="9782801" cy="672498"/>
          </a:xfrm>
        </p:spPr>
        <p:txBody>
          <a:bodyPr/>
          <a:lstStyle/>
          <a:p>
            <a:r>
              <a:rPr lang="en-IN" dirty="0"/>
              <a:t>PSO(Particle Swarm Optimization)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9665F3-09E8-D141-7FAA-E2D7E1D86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972" y="1052736"/>
            <a:ext cx="8443270" cy="20789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8C2978-FE56-5481-7C32-015BB3ECF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188" y="3212976"/>
            <a:ext cx="4778016" cy="33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6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43061E29-DDB0-C283-F3AE-D7C1D1C4AB0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0837252"/>
                  </p:ext>
                </p:extLst>
              </p:nvPr>
            </p:nvGraphicFramePr>
            <p:xfrm>
              <a:off x="1557908" y="2552437"/>
              <a:ext cx="9862630" cy="3712764"/>
            </p:xfrm>
            <a:graphic>
              <a:graphicData uri="http://schemas.openxmlformats.org/drawingml/2006/table">
                <a:tbl>
                  <a:tblPr/>
                  <a:tblGrid>
                    <a:gridCol w="1985329">
                      <a:extLst>
                        <a:ext uri="{9D8B030D-6E8A-4147-A177-3AD203B41FA5}">
                          <a16:colId xmlns:a16="http://schemas.microsoft.com/office/drawing/2014/main" val="548301215"/>
                        </a:ext>
                      </a:extLst>
                    </a:gridCol>
                    <a:gridCol w="7877301">
                      <a:extLst>
                        <a:ext uri="{9D8B030D-6E8A-4147-A177-3AD203B41FA5}">
                          <a16:colId xmlns:a16="http://schemas.microsoft.com/office/drawing/2014/main" val="2035718867"/>
                        </a:ext>
                      </a:extLst>
                    </a:gridCol>
                  </a:tblGrid>
                  <a:tr h="3727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 dirty="0"/>
                            <a:t>Rule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 b="1" dirty="0"/>
                            <a:t>Simple Meaning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8061677"/>
                      </a:ext>
                    </a:extLst>
                  </a:tr>
                  <a:tr h="7454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 err="1"/>
                            <a:t>Rigrsure</a:t>
                          </a:r>
                          <a:endParaRPr lang="en-IN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Estimates the error between denoised and true signal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Chooses threshold that minimizes this error.</a:t>
                          </a:r>
                        </a:p>
                        <a:p>
                          <a:pPr>
                            <a:buNone/>
                          </a:pPr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9740353"/>
                      </a:ext>
                    </a:extLst>
                  </a:tr>
                  <a:tr h="13210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 err="1"/>
                            <a:t>Sqtwolog</a:t>
                          </a:r>
                          <a:endParaRPr lang="en-IN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400" dirty="0"/>
                            <a:t>The threshold formula:</a:t>
                          </a: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𝑇</m:t>
                                </m:r>
                                <m:r>
                                  <a:rPr lang="en-IN" sz="1800" i="0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r>
                                  <a:rPr lang="en-IN" sz="1800" i="1" kern="1200">
                                    <a:solidFill>
                                      <a:schemeClr val="tx1"/>
                                    </a:solidFill>
                                    <a:latin typeface="+mn-lt"/>
                                    <a:ea typeface="+mn-ea"/>
                                    <a:cs typeface="+mn-cs"/>
                                  </a:rPr>
                                  <m:t>𝜎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ar-AE" sz="1800" i="1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ar-AE" sz="1800" i="0" kern="1200">
                                        <a:solidFill>
                                          <a:schemeClr val="tx1"/>
                                        </a:solidFill>
                                        <a:latin typeface="+mn-lt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  <m:func>
                                      <m:funcPr>
                                        <m:ctrlPr>
                                          <a:rPr lang="ar-AE" sz="1800" i="1" kern="1200">
                                            <a:solidFill>
                                              <a:schemeClr val="tx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uncPr>
                                      <m:fName>
                                        <m:r>
                                          <m:rPr>
                                            <m:sty m:val="p"/>
                                          </m:rPr>
                                          <a:rPr lang="en-IN" sz="1800" i="0" kern="1200">
                                            <a:solidFill>
                                              <a:schemeClr val="tx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log</m:t>
                                        </m:r>
                                      </m:fName>
                                      <m:e>
                                        <m:r>
                                          <a:rPr lang="ar-AE" sz="1800" i="1" kern="1200">
                                            <a:solidFill>
                                              <a:schemeClr val="tx1"/>
                                            </a:solidFill>
                                            <a:latin typeface="+mn-lt"/>
                                            <a:ea typeface="+mn-ea"/>
                                            <a:cs typeface="+mn-cs"/>
                                          </a:rPr>
                                          <m:t>𝑀</m:t>
                                        </m:r>
                                      </m:e>
                                    </m:func>
                                  </m:e>
                                </m:rad>
                              </m:oMath>
                            </m:oMathPara>
                          </a14:m>
                          <a:endParaRPr lang="ar-AE" sz="1400" dirty="0"/>
                        </a:p>
                        <a:p>
                          <a:r>
                            <a:rPr lang="en-IN" sz="1200" dirty="0"/>
                            <a:t>Where: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IN" sz="16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𝜎</m:t>
                              </m:r>
                            </m:oMath>
                          </a14:m>
                          <a:r>
                            <a:rPr lang="en-IN" sz="1200" dirty="0"/>
                            <a:t>= noise standard deviation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IN" sz="16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𝑀</m:t>
                              </m:r>
                            </m:oMath>
                          </a14:m>
                          <a:r>
                            <a:rPr lang="en-IN" sz="1200" dirty="0"/>
                            <a:t>= number of coefficients</a:t>
                          </a:r>
                          <a:r>
                            <a:rPr lang="en-IN" sz="1400" dirty="0"/>
                            <a:t>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25059616"/>
                      </a:ext>
                    </a:extLst>
                  </a:tr>
                  <a:tr h="9628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Heursure</a:t>
                          </a:r>
                          <a:endParaRPr lang="en-IN" sz="1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400" dirty="0" err="1"/>
                            <a:t>Rigrsure</a:t>
                          </a:r>
                          <a:r>
                            <a:rPr lang="en-IN" sz="1400" dirty="0"/>
                            <a:t> + </a:t>
                          </a:r>
                          <a:r>
                            <a:rPr lang="en-IN" sz="1400" dirty="0" err="1"/>
                            <a:t>Sqtwolog</a:t>
                          </a:r>
                          <a:r>
                            <a:rPr lang="en-IN" sz="1400" dirty="0"/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If noise is small → use </a:t>
                          </a:r>
                          <a:r>
                            <a:rPr lang="en-US" sz="1400" dirty="0" err="1"/>
                            <a:t>Rigrsure</a:t>
                          </a:r>
                          <a:endParaRPr lang="en-US" sz="1400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If noise is large → use </a:t>
                          </a:r>
                          <a:r>
                            <a:rPr lang="en-US" sz="1400" dirty="0" err="1"/>
                            <a:t>Sqtwolog</a:t>
                          </a:r>
                          <a:r>
                            <a:rPr lang="en-US" sz="1400" dirty="0"/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112630"/>
                      </a:ext>
                    </a:extLst>
                  </a:tr>
                  <a:tr h="3106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Minimaxi</a:t>
                          </a:r>
                          <a:endParaRPr lang="en-IN" sz="1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Minimize the maximum mean square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598187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43061E29-DDB0-C283-F3AE-D7C1D1C4AB0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0837252"/>
                  </p:ext>
                </p:extLst>
              </p:nvPr>
            </p:nvGraphicFramePr>
            <p:xfrm>
              <a:off x="1557908" y="2552437"/>
              <a:ext cx="9862630" cy="3712764"/>
            </p:xfrm>
            <a:graphic>
              <a:graphicData uri="http://schemas.openxmlformats.org/drawingml/2006/table">
                <a:tbl>
                  <a:tblPr/>
                  <a:tblGrid>
                    <a:gridCol w="1985329">
                      <a:extLst>
                        <a:ext uri="{9D8B030D-6E8A-4147-A177-3AD203B41FA5}">
                          <a16:colId xmlns:a16="http://schemas.microsoft.com/office/drawing/2014/main" val="548301215"/>
                        </a:ext>
                      </a:extLst>
                    </a:gridCol>
                    <a:gridCol w="7877301">
                      <a:extLst>
                        <a:ext uri="{9D8B030D-6E8A-4147-A177-3AD203B41FA5}">
                          <a16:colId xmlns:a16="http://schemas.microsoft.com/office/drawing/2014/main" val="2035718867"/>
                        </a:ext>
                      </a:extLst>
                    </a:gridCol>
                  </a:tblGrid>
                  <a:tr h="37273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 dirty="0"/>
                            <a:t>Rule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800" b="1" dirty="0"/>
                            <a:t>Simple Meaning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038061677"/>
                      </a:ext>
                    </a:extLst>
                  </a:tr>
                  <a:tr h="7454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 err="1"/>
                            <a:t>Rigrsure</a:t>
                          </a:r>
                          <a:endParaRPr lang="en-IN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Estimates the error between denoised and true signal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Chooses threshold that minimizes this error.</a:t>
                          </a:r>
                        </a:p>
                        <a:p>
                          <a:pPr>
                            <a:buNone/>
                          </a:pPr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29740353"/>
                      </a:ext>
                    </a:extLst>
                  </a:tr>
                  <a:tr h="1321065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 err="1"/>
                            <a:t>Sqtwolog</a:t>
                          </a:r>
                          <a:endParaRPr lang="en-IN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290" t="-87097" r="-155" b="-1009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25059616"/>
                      </a:ext>
                    </a:extLst>
                  </a:tr>
                  <a:tr h="962892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Heursure</a:t>
                          </a:r>
                          <a:endParaRPr lang="en-IN" sz="1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IN" sz="1400" dirty="0" err="1"/>
                            <a:t>Rigrsure</a:t>
                          </a:r>
                          <a:r>
                            <a:rPr lang="en-IN" sz="1400" dirty="0"/>
                            <a:t> + </a:t>
                          </a:r>
                          <a:r>
                            <a:rPr lang="en-IN" sz="1400" dirty="0" err="1"/>
                            <a:t>Sqtwolog</a:t>
                          </a:r>
                          <a:r>
                            <a:rPr lang="en-IN" sz="1400" dirty="0"/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If noise is small → use </a:t>
                          </a:r>
                          <a:r>
                            <a:rPr lang="en-US" sz="1400" dirty="0" err="1"/>
                            <a:t>Rigrsure</a:t>
                          </a:r>
                          <a:endParaRPr lang="en-US" sz="1400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400" dirty="0"/>
                            <a:t>If noise is large → use </a:t>
                          </a:r>
                          <a:r>
                            <a:rPr lang="en-US" sz="1400" dirty="0" err="1"/>
                            <a:t>Sqtwolog</a:t>
                          </a:r>
                          <a:r>
                            <a:rPr lang="en-US" sz="1400" dirty="0"/>
                            <a:t>.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endParaRPr lang="en-US" sz="14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53112630"/>
                      </a:ext>
                    </a:extLst>
                  </a:tr>
                  <a:tr h="31061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/>
                            <a:t>Minimaxi</a:t>
                          </a:r>
                          <a:endParaRPr lang="en-IN" sz="140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/>
                            <a:t>Minimize the maximum mean square error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598187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7FE5FC31-3ADE-B158-CF3A-657C756BC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2" y="592799"/>
            <a:ext cx="8846070" cy="170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886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CD254-D1DB-6F31-3C99-0B20F9F9B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908" y="315612"/>
            <a:ext cx="9782801" cy="702874"/>
          </a:xfrm>
        </p:spPr>
        <p:txBody>
          <a:bodyPr/>
          <a:lstStyle/>
          <a:p>
            <a:r>
              <a:rPr lang="en-IN" dirty="0"/>
              <a:t>Main Optimization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B1DDCC-ACEF-590A-93FC-8C1089D2B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0605" y="1120870"/>
            <a:ext cx="6363314" cy="3149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14507F-A6B7-C543-486B-0AC0FFCB6413}"/>
              </a:ext>
            </a:extLst>
          </p:cNvPr>
          <p:cNvSpPr txBox="1"/>
          <p:nvPr/>
        </p:nvSpPr>
        <p:spPr>
          <a:xfrm>
            <a:off x="1572507" y="4445992"/>
            <a:ext cx="9433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S(n) represents the original ECG signal</a:t>
            </a:r>
          </a:p>
          <a:p>
            <a:r>
              <a:rPr lang="en-IN" dirty="0"/>
              <a:t>    </a:t>
            </a:r>
            <a:r>
              <a:rPr lang="en-US" dirty="0"/>
              <a:t>is the noisy ECG signal </a:t>
            </a:r>
          </a:p>
          <a:p>
            <a:r>
              <a:rPr lang="en-US" dirty="0"/>
              <a:t>    is the denoised ECG signal</a:t>
            </a:r>
            <a:endParaRPr lang="en-IN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F3E2E8C-367D-0CF3-A0D3-281553103E09}"/>
              </a:ext>
            </a:extLst>
          </p:cNvPr>
          <p:cNvGrpSpPr/>
          <p:nvPr/>
        </p:nvGrpSpPr>
        <p:grpSpPr>
          <a:xfrm>
            <a:off x="1596566" y="4716932"/>
            <a:ext cx="514308" cy="626857"/>
            <a:chOff x="1557908" y="5877272"/>
            <a:chExt cx="514308" cy="6268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02E16DA-3301-9F3D-F978-3A4C676C8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93436" y="5877272"/>
              <a:ext cx="478780" cy="30184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55278D-AEC9-69CF-4951-59ABD1272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10217"/>
            <a:stretch>
              <a:fillRect/>
            </a:stretch>
          </p:blipFill>
          <p:spPr>
            <a:xfrm>
              <a:off x="1557908" y="6179113"/>
              <a:ext cx="476316" cy="325016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68B083F-3FD0-EF21-1AB5-9585D114A0DD}"/>
              </a:ext>
            </a:extLst>
          </p:cNvPr>
          <p:cNvSpPr txBox="1"/>
          <p:nvPr/>
        </p:nvSpPr>
        <p:spPr>
          <a:xfrm>
            <a:off x="1413892" y="5805264"/>
            <a:ext cx="66967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PSO tries to: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SNR improvement(fitness function)</a:t>
            </a:r>
          </a:p>
        </p:txBody>
      </p:sp>
    </p:spTree>
    <p:extLst>
      <p:ext uri="{BB962C8B-B14F-4D97-AF65-F5344CB8AC3E}">
        <p14:creationId xmlns:p14="http://schemas.microsoft.com/office/powerpoint/2010/main" val="2910719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3A536-60E9-7EDF-5FB9-0EF05122A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876" y="12358"/>
            <a:ext cx="9782801" cy="58092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 Key Terms and Equations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2DB45-580E-2F13-9D08-3A4499CD2A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69876" y="688141"/>
                <a:ext cx="10106361" cy="4397044"/>
              </a:xfrm>
            </p:spPr>
            <p:txBody>
              <a:bodyPr>
                <a:normAutofit lnSpcReduction="10000"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Particle (Solution)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8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sepChr m:val=","/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particle represents one candidate solution (wavelet parameters such as wavelet type, level, threshold rule, etc.).</a:t>
                </a:r>
              </a:p>
              <a:p>
                <a:pPr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 Velocity Update Equation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ar-AE" sz="1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800" i="1"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sz="1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𝑝𝑏𝑒𝑠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sz="18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ar-AE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1800" i="1">
                              <a:latin typeface="Cambria Math" panose="02040503050406030204" pitchFamily="18" charset="0"/>
                            </a:rPr>
                            <m:t>𝑔𝑏𝑒𝑠𝑡</m:t>
                          </m:r>
                          <m:r>
                            <a:rPr lang="ar-AE" sz="1800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b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Updates particle movement using inertia, personal learning, and social learning.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400" b="0" i="1" smtClean="0">
                        <a:latin typeface="Cambria Math" panose="02040503050406030204" pitchFamily="18" charset="0"/>
                      </a:rPr>
                      <m:t>- </m:t>
                    </m:r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Velocity controls how the particle changes its solution and moves in the search </a:t>
                </a:r>
                <a:r>
                  <a:rPr lang="en-US" sz="1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</a:t>
                </a:r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𝑝𝑏𝑒𝑠</m:t>
                    </m:r>
                    <m:sSub>
                      <m:sSubPr>
                        <m:ctrlPr>
                          <a:rPr lang="ar-AE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ar-AE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The best solution found so far by each particle during optimization.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sz="1400" i="1">
                        <a:latin typeface="Cambria Math" panose="02040503050406030204" pitchFamily="18" charset="0"/>
                      </a:rPr>
                      <m:t>𝑔𝑏𝑒𝑠𝑡</m:t>
                    </m:r>
                  </m:oMath>
                </a14:m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best solution found among all particles in the swarm.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r1​,r2​ ∈ [0,1]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c1​,c2​ - 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Control how much particles learn from their own experience and the swarm.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l-GR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ω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inertia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2DB45-580E-2F13-9D08-3A4499CD2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69876" y="688141"/>
                <a:ext cx="10106361" cy="4397044"/>
              </a:xfrm>
              <a:blipFill>
                <a:blip r:embed="rId2"/>
                <a:stretch>
                  <a:fillRect l="-483" t="-2080" r="-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C3C131-54FE-8E20-71DC-CC6CBD48E61E}"/>
                  </a:ext>
                </a:extLst>
              </p:cNvPr>
              <p:cNvSpPr txBox="1"/>
              <p:nvPr/>
            </p:nvSpPr>
            <p:spPr>
              <a:xfrm>
                <a:off x="1345430" y="5013176"/>
                <a:ext cx="10009112" cy="1354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Position Update Equation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sz="1600"/>
                          </m:ctrlPr>
                        </m:sSubPr>
                        <m:e>
                          <m:r>
                            <a:rPr lang="ar-AE" sz="1600" i="1"/>
                            <m:t>𝑥</m:t>
                          </m:r>
                        </m:e>
                        <m:sub>
                          <m:r>
                            <a:rPr lang="ar-AE" sz="1600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𝑡</m:t>
                          </m:r>
                          <m:r>
                            <a:rPr lang="ar-AE" sz="1600"/>
                            <m:t>+</m:t>
                          </m:r>
                          <m:r>
                            <a:rPr lang="ar-AE" sz="1600"/>
                            <m:t>1</m:t>
                          </m:r>
                        </m:e>
                      </m:d>
                      <m:r>
                        <a:rPr lang="ar-AE" sz="1600"/>
                        <m:t>=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𝑥</m:t>
                          </m:r>
                        </m:e>
                        <m:sub>
                          <m:r>
                            <a:rPr lang="ar-AE" sz="1600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𝑡</m:t>
                          </m:r>
                        </m:e>
                      </m:d>
                      <m:r>
                        <a:rPr lang="ar-AE" sz="1600"/>
                        <m:t>+</m:t>
                      </m:r>
                      <m:sSub>
                        <m:sSubPr>
                          <m:ctrlPr>
                            <a:rPr lang="ar-AE" sz="1600" i="1"/>
                          </m:ctrlPr>
                        </m:sSubPr>
                        <m:e>
                          <m:r>
                            <a:rPr lang="ar-AE" sz="1600" i="1"/>
                            <m:t>𝑣</m:t>
                          </m:r>
                        </m:e>
                        <m:sub>
                          <m:r>
                            <a:rPr lang="ar-AE" sz="1600" i="1"/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ar-AE" sz="1600" i="1"/>
                          </m:ctrlPr>
                        </m:dPr>
                        <m:e>
                          <m:r>
                            <a:rPr lang="ar-AE" sz="1600" i="1"/>
                            <m:t>𝑡</m:t>
                          </m:r>
                          <m:r>
                            <a:rPr lang="ar-AE" sz="1600"/>
                            <m:t>+</m:t>
                          </m:r>
                          <m:r>
                            <a:rPr lang="ar-AE" sz="1600"/>
                            <m:t>1</m:t>
                          </m:r>
                        </m:e>
                      </m:d>
                    </m:oMath>
                  </m:oMathPara>
                </a14:m>
                <a:endParaRPr lang="ar-AE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Meaning:</a:t>
                </a:r>
                <a:b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Updates the particle’s solution in the search space.</a:t>
                </a:r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3C3C131-54FE-8E20-71DC-CC6CBD48E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5430" y="5013176"/>
                <a:ext cx="10009112" cy="1354217"/>
              </a:xfrm>
              <a:prstGeom prst="rect">
                <a:avLst/>
              </a:prstGeom>
              <a:blipFill>
                <a:blip r:embed="rId3"/>
                <a:stretch>
                  <a:fillRect l="-365" t="-13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6048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CB8D-383D-217E-7178-BCEA36676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437" y="177801"/>
            <a:ext cx="8317400" cy="370879"/>
          </a:xfrm>
        </p:spPr>
        <p:txBody>
          <a:bodyPr>
            <a:normAutofit fontScale="90000"/>
          </a:bodyPr>
          <a:lstStyle/>
          <a:p>
            <a:r>
              <a:rPr lang="en-IN" dirty="0"/>
              <a:t>Methodology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F11995-2FE7-8801-FC90-50FDD7822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0116" y="476672"/>
            <a:ext cx="5544616" cy="628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D5B16-8271-2357-6B3A-729B1B715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436" y="139482"/>
            <a:ext cx="9782801" cy="580925"/>
          </a:xfrm>
        </p:spPr>
        <p:txBody>
          <a:bodyPr>
            <a:normAutofit fontScale="90000"/>
          </a:bodyPr>
          <a:lstStyle/>
          <a:p>
            <a:r>
              <a:rPr lang="en-IN" dirty="0"/>
              <a:t>Orthogonal and Orthonormal Demonstration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7B1878-84DD-DF7C-A1B3-C64C501183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1884" y="801870"/>
                <a:ext cx="9782801" cy="2987170"/>
              </a:xfrm>
            </p:spPr>
            <p:txBody>
              <a:bodyPr>
                <a:norm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Orthogonality?</a:t>
                </a:r>
              </a:p>
              <a:p>
                <a:pPr lvl="1">
                  <a:buNone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Wavelet basis functions are </a:t>
                </a:r>
                <a:r>
                  <a:rPr lang="en-IN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orthogonal</a:t>
                </a: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if: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sepChr m:val=","/>
                          <m:ctrlPr>
                            <a:rPr lang="ar-AE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ar-AE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sz="14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  <m:sub>
                                  <m:r>
                                    <a:rPr lang="ar-AE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ar-AE" sz="14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r>
                        <a:rPr lang="ar-AE" sz="1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1400" i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140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IN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for</m:t>
                      </m:r>
                      <m:r>
                        <m:rPr>
                          <m:nor/>
                        </m:rPr>
                        <a:rPr lang="en-IN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d>
                        <m:dPr>
                          <m:sepChr m:val=","/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1400" b="0" i="0">
                          <a:latin typeface="Cambria Math" panose="02040503050406030204" pitchFamily="18" charset="0"/>
                        </a:rPr>
                        <m:t>≠</m:t>
                      </m:r>
                      <m:d>
                        <m:dPr>
                          <m:sepChr m:val=","/>
                          <m:ctrlPr>
                            <a:rPr lang="ar-AE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ar-AE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400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ar-AE" sz="1400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14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>
                  <a:buNone/>
                </a:pP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means: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Each basis function is independent</a:t>
                </a:r>
                <a:b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• No overlap between different frequency bands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Orthonormality?</a:t>
                </a:r>
              </a:p>
              <a:p>
                <a:pPr lvl="1">
                  <a:buNone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Wavelet basis is </a:t>
                </a:r>
                <a:r>
                  <a:rPr lang="en-US" sz="1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orthonormal</a:t>
                </a: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if: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Functions are orthogonal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function has unit norm</a:t>
                </a:r>
              </a:p>
              <a:p>
                <a:pPr lv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∣∣=</m:t>
                      </m:r>
                      <m:r>
                        <a:rPr lang="en-US" sz="14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I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7B1878-84DD-DF7C-A1B3-C64C501183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1884" y="801870"/>
                <a:ext cx="9782801" cy="2987170"/>
              </a:xfrm>
              <a:blipFill>
                <a:blip r:embed="rId2"/>
                <a:stretch>
                  <a:fillRect l="-374" t="-20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5D7EB8-954A-4E80-0EA0-F56E19F74F0C}"/>
                  </a:ext>
                </a:extLst>
              </p:cNvPr>
              <p:cNvSpPr txBox="1"/>
              <p:nvPr/>
            </p:nvSpPr>
            <p:spPr>
              <a:xfrm>
                <a:off x="1341884" y="3789040"/>
                <a:ext cx="1029714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Wavelet Filters</a:t>
                </a:r>
              </a:p>
              <a:p>
                <a:pPr lvl="1"/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You have: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𝜙</m:t>
                      </m:r>
                      <m:r>
                        <a:rPr lang="en-IN"/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0</m:t>
                          </m:r>
                          <m:r>
                            <a:rPr lang="ar-AE"/>
                            <m:t>.</m:t>
                          </m:r>
                          <m:r>
                            <a:rPr lang="ar-AE"/>
                            <m:t>5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ar-AE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  </m:t>
                          </m:r>
                        </m:e>
                        <m:e>
                          <m:r>
                            <a:rPr lang="ar-AE"/>
                            <m:t>1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  </m:t>
                          </m:r>
                          <m:r>
                            <a:rPr lang="ar-AE"/>
                            <m:t>0</m:t>
                          </m:r>
                          <m:r>
                            <a:rPr lang="ar-AE"/>
                            <m:t>.</m:t>
                          </m:r>
                          <m:r>
                            <a:rPr lang="ar-AE"/>
                            <m:t>5</m:t>
                          </m:r>
                        </m:e>
                      </m:d>
                      <m:r>
                        <a:rPr lang="ar-AE"/>
                        <m:t>, </m:t>
                      </m:r>
                      <m:r>
                        <a:rPr lang="ar-AE" i="1"/>
                        <m:t>𝜓</m:t>
                      </m:r>
                      <m:r>
                        <a:rPr lang="ar-AE"/>
                        <m:t>=</m:t>
                      </m:r>
                      <m:d>
                        <m:dPr>
                          <m:begChr m:val="["/>
                          <m:endChr m:val="]"/>
                          <m:sepChr m:val=","/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1</m:t>
                          </m:r>
                        </m:e>
                        <m:e>
                          <m:r>
                            <m:rPr>
                              <m:nor/>
                            </m:rPr>
                            <a:rPr lang="ar-AE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  </m:t>
                          </m:r>
                        </m:e>
                        <m:e>
                          <m:r>
                            <a:rPr lang="ar-AE"/>
                            <m:t>0</m:t>
                          </m:r>
                          <m:r>
                            <m:rPr>
                              <m:nor/>
                            </m:rPr>
                            <a:rPr lang="ar-AE" i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  </m:t>
                          </m:r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e>
                      </m:d>
                    </m:oMath>
                  </m:oMathPara>
                </a14:m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ar-AE" b="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45D7EB8-954A-4E80-0EA0-F56E19F74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884" y="3789040"/>
                <a:ext cx="10297144" cy="1477328"/>
              </a:xfrm>
              <a:prstGeom prst="rect">
                <a:avLst/>
              </a:prstGeom>
              <a:blipFill>
                <a:blip r:embed="rId3"/>
                <a:stretch>
                  <a:fillRect l="-474" t="-2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79362D-3031-B6AC-B432-930DB664B100}"/>
                  </a:ext>
                </a:extLst>
              </p:cNvPr>
              <p:cNvSpPr txBox="1"/>
              <p:nvPr/>
            </p:nvSpPr>
            <p:spPr>
              <a:xfrm>
                <a:off x="1341884" y="4797153"/>
                <a:ext cx="1022513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/>
                  <a:t>Check Orthogonality (DOT Product):</a:t>
                </a:r>
              </a:p>
              <a:p>
                <a:r>
                  <a:rPr lang="en-IN" dirty="0"/>
                  <a:t>So compute the dot product: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/>
                        <m:t>𝜙</m:t>
                      </m:r>
                      <m:r>
                        <a:rPr lang="en-IN"/>
                        <m:t>⋅</m:t>
                      </m:r>
                      <m:r>
                        <a:rPr lang="en-IN" i="1"/>
                        <m:t>𝜓</m:t>
                      </m:r>
                      <m:r>
                        <a:rPr lang="en-IN"/>
                        <m:t>=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0</m:t>
                          </m:r>
                          <m:r>
                            <a:rPr lang="ar-AE"/>
                            <m:t>.</m:t>
                          </m:r>
                          <m:r>
                            <a:rPr lang="ar-AE"/>
                            <m:t>5</m:t>
                          </m:r>
                        </m:e>
                      </m:d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1</m:t>
                          </m:r>
                        </m:e>
                      </m:d>
                      <m:r>
                        <a:rPr lang="ar-AE"/>
                        <m:t>+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1</m:t>
                          </m:r>
                        </m:e>
                      </m:d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0</m:t>
                          </m:r>
                        </m:e>
                      </m:d>
                      <m:r>
                        <a:rPr lang="ar-AE"/>
                        <m:t>+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0</m:t>
                          </m:r>
                          <m:r>
                            <a:rPr lang="ar-AE"/>
                            <m:t>.</m:t>
                          </m:r>
                          <m:r>
                            <a:rPr lang="ar-AE"/>
                            <m:t>5</m:t>
                          </m:r>
                        </m:e>
                      </m:d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a:rPr lang="ar-AE"/>
                            <m:t>−</m:t>
                          </m:r>
                          <m:r>
                            <a:rPr lang="ar-AE"/>
                            <m:t>1</m:t>
                          </m:r>
                        </m:e>
                      </m:d>
                    </m:oMath>
                  </m:oMathPara>
                </a14:m>
                <a:endParaRPr lang="ar-AE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  <m:r>
                        <a:rPr lang="ar-AE"/>
                        <m:t>.</m:t>
                      </m:r>
                      <m:r>
                        <a:rPr lang="ar-AE"/>
                        <m:t>5</m:t>
                      </m:r>
                      <m:r>
                        <a:rPr lang="ar-AE"/>
                        <m:t>+</m:t>
                      </m:r>
                      <m:r>
                        <a:rPr lang="ar-AE"/>
                        <m:t>0</m:t>
                      </m:r>
                      <m:r>
                        <a:rPr lang="ar-AE"/>
                        <m:t>−</m:t>
                      </m:r>
                      <m:r>
                        <a:rPr lang="ar-AE"/>
                        <m:t>0</m:t>
                      </m:r>
                      <m:r>
                        <a:rPr lang="ar-AE"/>
                        <m:t>.</m:t>
                      </m:r>
                      <m:r>
                        <a:rPr lang="ar-AE"/>
                        <m:t>5</m:t>
                      </m:r>
                      <m:r>
                        <a:rPr lang="ar-AE"/>
                        <m:t>=</m:t>
                      </m:r>
                      <m:r>
                        <a:rPr lang="ar-AE"/>
                        <m:t>0</m:t>
                      </m:r>
                    </m:oMath>
                  </m:oMathPara>
                </a14:m>
                <a:endParaRPr lang="ar-AE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79362D-3031-B6AC-B432-930DB664B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884" y="4797153"/>
                <a:ext cx="10225136" cy="1477328"/>
              </a:xfrm>
              <a:prstGeom prst="rect">
                <a:avLst/>
              </a:prstGeom>
              <a:blipFill>
                <a:blip r:embed="rId4"/>
                <a:stretch>
                  <a:fillRect l="-477" t="-28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950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B801F-6C78-46FE-46C7-EABFA02A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893" y="116632"/>
            <a:ext cx="9505056" cy="648072"/>
          </a:xfrm>
        </p:spPr>
        <p:txBody>
          <a:bodyPr/>
          <a:lstStyle/>
          <a:p>
            <a:r>
              <a:rPr lang="en-IN" dirty="0"/>
              <a:t>Shifting and Scaling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80D0C1-ED1D-1DFA-241A-19B8BB82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960" y="836712"/>
            <a:ext cx="2940922" cy="2376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E4DEF5-D752-0B49-CF9A-7473B5B35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3438128"/>
            <a:ext cx="3888736" cy="2947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BFEF5D-4A0D-4C68-7D25-45C4394FA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4189" y="3427022"/>
            <a:ext cx="3888736" cy="301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25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th 16x9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9696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h education presentation with Pi  (widescreen).potx" id="{DF132673-7A8C-4FB7-A35E-0123B6C0D98B}" vid="{CCAAB50D-2EF2-4925-80C2-C83131AE58AC}"/>
    </a:ext>
  </a:extLst>
</a:theme>
</file>

<file path=ppt/theme/theme2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Math_16x9">
      <a:dk1>
        <a:srgbClr val="465562"/>
      </a:dk1>
      <a:lt1>
        <a:srgbClr val="FFFFFF"/>
      </a:lt1>
      <a:dk2>
        <a:srgbClr val="000000"/>
      </a:dk2>
      <a:lt2>
        <a:srgbClr val="F2ECE2"/>
      </a:lt2>
      <a:accent1>
        <a:srgbClr val="9BAAB7"/>
      </a:accent1>
      <a:accent2>
        <a:srgbClr val="B8D082"/>
      </a:accent2>
      <a:accent3>
        <a:srgbClr val="EFDB85"/>
      </a:accent3>
      <a:accent4>
        <a:srgbClr val="E8A565"/>
      </a:accent4>
      <a:accent5>
        <a:srgbClr val="BC9AAE"/>
      </a:accent5>
      <a:accent6>
        <a:srgbClr val="BABABA"/>
      </a:accent6>
      <a:hlink>
        <a:srgbClr val="8FC48C"/>
      </a:hlink>
      <a:folHlink>
        <a:srgbClr val="A97C96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Math education presentation with Pi  (widescreen)</Template>
  <TotalTime>1458</TotalTime>
  <Words>424</Words>
  <Application>Microsoft Office PowerPoint</Application>
  <PresentationFormat>Custom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Euphemia</vt:lpstr>
      <vt:lpstr>Times New Roman</vt:lpstr>
      <vt:lpstr>Math 16x9</vt:lpstr>
      <vt:lpstr>An efficient ECG signals denoising technique based on the combination of particle swarm optimisation and wavelet transform</vt:lpstr>
      <vt:lpstr>Update:</vt:lpstr>
      <vt:lpstr>PSO(Particle Swarm Optimization)</vt:lpstr>
      <vt:lpstr>PowerPoint Presentation</vt:lpstr>
      <vt:lpstr>Main Optimization </vt:lpstr>
      <vt:lpstr>PSO Key Terms and Equations</vt:lpstr>
      <vt:lpstr>Methodology</vt:lpstr>
      <vt:lpstr>Orthogonal and Orthonormal Demonstration</vt:lpstr>
      <vt:lpstr>Shifting and Scaling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Rupesh Namburi</dc:creator>
  <cp:lastModifiedBy>Rupesh Namburi</cp:lastModifiedBy>
  <cp:revision>4</cp:revision>
  <dcterms:created xsi:type="dcterms:W3CDTF">2026-01-22T07:50:42Z</dcterms:created>
  <dcterms:modified xsi:type="dcterms:W3CDTF">2026-02-24T09:37:51Z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0x010100AA3F7D94069FF64A86F7DFF56D60E3BE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