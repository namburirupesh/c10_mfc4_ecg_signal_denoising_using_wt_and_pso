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8"/>
  </p:notesMasterIdLst>
  <p:handoutMasterIdLst>
    <p:handoutMasterId r:id="rId29"/>
  </p:handoutMasterIdLst>
  <p:sldIdLst>
    <p:sldId id="317" r:id="rId5"/>
    <p:sldId id="307" r:id="rId6"/>
    <p:sldId id="308" r:id="rId7"/>
    <p:sldId id="278" r:id="rId8"/>
    <p:sldId id="330" r:id="rId9"/>
    <p:sldId id="309" r:id="rId10"/>
    <p:sldId id="319" r:id="rId11"/>
    <p:sldId id="318" r:id="rId12"/>
    <p:sldId id="322" r:id="rId13"/>
    <p:sldId id="310" r:id="rId14"/>
    <p:sldId id="325" r:id="rId15"/>
    <p:sldId id="311" r:id="rId16"/>
    <p:sldId id="329" r:id="rId17"/>
    <p:sldId id="323" r:id="rId18"/>
    <p:sldId id="324" r:id="rId19"/>
    <p:sldId id="312" r:id="rId20"/>
    <p:sldId id="320" r:id="rId21"/>
    <p:sldId id="326" r:id="rId22"/>
    <p:sldId id="327" r:id="rId23"/>
    <p:sldId id="328" r:id="rId24"/>
    <p:sldId id="331" r:id="rId25"/>
    <p:sldId id="332" r:id="rId26"/>
    <p:sldId id="32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636A58"/>
    <a:srgbClr val="505A47"/>
    <a:srgbClr val="D1D8B7"/>
    <a:srgbClr val="A09D79"/>
    <a:srgbClr val="AD5C4D"/>
    <a:srgbClr val="543E35"/>
    <a:srgbClr val="637700"/>
    <a:srgbClr val="FFF4ED"/>
    <a:srgbClr val="5E6A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62" autoAdjust="0"/>
    <p:restoredTop sz="95405" autoAdjust="0"/>
  </p:normalViewPr>
  <p:slideViewPr>
    <p:cSldViewPr snapToGrid="0">
      <p:cViewPr varScale="1">
        <p:scale>
          <a:sx n="75" d="100"/>
          <a:sy n="75" d="100"/>
        </p:scale>
        <p:origin x="638" y="43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3/11/2026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4091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08936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2499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7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1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0.png"/><Relationship Id="rId4" Type="http://schemas.openxmlformats.org/officeDocument/2006/relationships/image" Target="../media/image8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90.png"/><Relationship Id="rId4" Type="http://schemas.openxmlformats.org/officeDocument/2006/relationships/image" Target="../media/image18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2164080"/>
          </a:xfrm>
        </p:spPr>
        <p:txBody>
          <a:bodyPr anchor="ctr"/>
          <a:lstStyle/>
          <a:p>
            <a:r>
              <a:rPr lang="en-US" dirty="0"/>
              <a:t>ECG Signal Denoising Using Wavelet Transform and Particle Swarm Optimization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B00D4C7-DA21-B2FC-7962-11D6B15BC524}"/>
              </a:ext>
            </a:extLst>
          </p:cNvPr>
          <p:cNvSpPr txBox="1"/>
          <p:nvPr/>
        </p:nvSpPr>
        <p:spPr>
          <a:xfrm>
            <a:off x="6456680" y="428178"/>
            <a:ext cx="573532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ptos Display" panose="020B0004020202020204" pitchFamily="34" charset="0"/>
              </a:rPr>
              <a:t>Electrocardiogram (ECG) is an important signal used to monitor the heart and detect cardiovascular diseases.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Aptos Display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ptos Display" panose="020B0004020202020204" pitchFamily="34" charset="0"/>
              </a:rPr>
              <a:t>ECG signals are non-stationary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Aptos Display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ptos Display" panose="020B0004020202020204" pitchFamily="34" charset="0"/>
              </a:rPr>
              <a:t>ECG  signal is often corrupted by noise like white Gaussian noise (WGN),power line interference (PLI)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Aptos Display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ptos Display" panose="020B0004020202020204" pitchFamily="34" charset="0"/>
              </a:rPr>
              <a:t>we are using Wavelet Transform (WT) for ECG signal denoising.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Aptos Display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ptos Display" panose="020B0004020202020204" pitchFamily="34" charset="0"/>
              </a:rPr>
              <a:t>To improve the denoising performance, we are using Particle Swarm Optimization (PSO)</a:t>
            </a:r>
            <a:endParaRPr lang="en-IN" sz="2400" dirty="0">
              <a:latin typeface="Aptos Display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80362C-6238-299B-EB84-BD27B3BDA53D}"/>
              </a:ext>
            </a:extLst>
          </p:cNvPr>
          <p:cNvSpPr txBox="1"/>
          <p:nvPr/>
        </p:nvSpPr>
        <p:spPr>
          <a:xfrm>
            <a:off x="508000" y="2397760"/>
            <a:ext cx="3291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latin typeface="Arial Black" panose="020B0A04020102020204" pitchFamily="34" charset="0"/>
              </a:rPr>
              <a:t>INTRODUCTION</a:t>
            </a:r>
            <a:endParaRPr lang="en-IN" sz="2800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60A809B-AF65-95A2-8ACE-F8C71A9CC841}"/>
              </a:ext>
            </a:extLst>
          </p:cNvPr>
          <p:cNvSpPr txBox="1"/>
          <p:nvPr/>
        </p:nvSpPr>
        <p:spPr>
          <a:xfrm>
            <a:off x="-20320" y="2831868"/>
            <a:ext cx="74222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ptos Display" panose="020B0004020202020204" pitchFamily="34" charset="0"/>
              </a:rPr>
              <a:t>ECG signals are often corrupted by noise  therefore it is necessary to denoise the signal while preserving the important information.</a:t>
            </a:r>
            <a:endParaRPr lang="en-IN" sz="2400" dirty="0">
              <a:latin typeface="Aptos Display" panose="020B0004020202020204" pitchFamily="34" charset="0"/>
            </a:endParaRPr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1551CE-EB11-E00D-A03B-8CE14B1AA6CD}"/>
              </a:ext>
            </a:extLst>
          </p:cNvPr>
          <p:cNvSpPr txBox="1"/>
          <p:nvPr/>
        </p:nvSpPr>
        <p:spPr>
          <a:xfrm>
            <a:off x="0" y="0"/>
            <a:ext cx="6156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>
                    <a:lumMod val="50000"/>
                  </a:schemeClr>
                </a:solidFill>
                <a:latin typeface="Arial Black" panose="020B0A04020102020204" pitchFamily="34" charset="0"/>
              </a:rPr>
              <a:t>PROBLEM STATMENT</a:t>
            </a:r>
            <a:endParaRPr lang="en-IN" sz="2800" dirty="0">
              <a:solidFill>
                <a:schemeClr val="tx1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311200F-0DBD-2304-A4CE-F0A809282E3D}"/>
              </a:ext>
            </a:extLst>
          </p:cNvPr>
          <p:cNvSpPr txBox="1"/>
          <p:nvPr/>
        </p:nvSpPr>
        <p:spPr>
          <a:xfrm>
            <a:off x="0" y="2551837"/>
            <a:ext cx="9621520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ptos Display" panose="020B0004020202020204" pitchFamily="34" charset="0"/>
              </a:rPr>
              <a:t>To Denoise the ECG signals using Wavelet Transform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2800" dirty="0">
              <a:latin typeface="Aptos Display" panose="020B00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ptos Display" panose="020B0004020202020204" pitchFamily="34" charset="0"/>
              </a:rPr>
              <a:t>To use Particle Swarm Optimization (PSO) to find the optimal parameters of the Wavelet Transform.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dirty="0">
              <a:latin typeface="Aptos Display" panose="020B0004020202020204" pitchFamily="34" charset="0"/>
            </a:endParaRP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853759-04F8-AC84-CFA6-2FA8078FE991}"/>
              </a:ext>
            </a:extLst>
          </p:cNvPr>
          <p:cNvSpPr txBox="1"/>
          <p:nvPr/>
        </p:nvSpPr>
        <p:spPr>
          <a:xfrm>
            <a:off x="0" y="0"/>
            <a:ext cx="5140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>
                    <a:lumMod val="50000"/>
                  </a:schemeClr>
                </a:solidFill>
                <a:latin typeface="Arial Black" panose="020B0A04020102020204" pitchFamily="34" charset="0"/>
              </a:rPr>
              <a:t>OBJECTIVE</a:t>
            </a:r>
            <a:endParaRPr lang="en-IN" sz="2800" dirty="0">
              <a:solidFill>
                <a:schemeClr val="tx1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000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E19C53-7779-DF58-EEB9-C91D46BDB7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909EE1B-D7B6-4FE0-8E3D-DB0E607F4FE9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769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1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b="0" i="1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IN" b="0" i="1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7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909EE1B-D7B6-4FE0-8E3D-DB0E607F4F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7693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7C3EEBC-5B2C-E4A9-1621-91D3610DD9D1}"/>
              </a:ext>
            </a:extLst>
          </p:cNvPr>
          <p:cNvSpPr txBox="1"/>
          <p:nvPr/>
        </p:nvSpPr>
        <p:spPr>
          <a:xfrm>
            <a:off x="0" y="3281679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X(n)</a:t>
            </a:r>
            <a:r>
              <a:rPr lang="en-IN" dirty="0">
                <a:sym typeface="Wingdings" panose="05000000000000000000" pitchFamily="2" charset="2"/>
              </a:rPr>
              <a:t>original Signal</a:t>
            </a:r>
          </a:p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0435704-AE49-558F-9597-717EAA80140B}"/>
                  </a:ext>
                </a:extLst>
              </p:cNvPr>
              <p:cNvSpPr txBox="1"/>
              <p:nvPr/>
            </p:nvSpPr>
            <p:spPr>
              <a:xfrm>
                <a:off x="0" y="3591988"/>
                <a:ext cx="2773680" cy="12260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b="0" i="1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>
                    <a:sym typeface="Wingdings" panose="05000000000000000000" pitchFamily="2" charset="2"/>
                  </a:rPr>
                  <a:t>Mother Wavelet</a:t>
                </a:r>
              </a:p>
              <a:p>
                <a:r>
                  <a:rPr lang="en-IN" dirty="0">
                    <a:sym typeface="Wingdings" panose="05000000000000000000" pitchFamily="2" charset="2"/>
                  </a:rPr>
                  <a:t> </a:t>
                </a:r>
                <a:r>
                  <a:rPr lang="en-IN" dirty="0" err="1">
                    <a:sym typeface="Wingdings" panose="05000000000000000000" pitchFamily="2" charset="2"/>
                  </a:rPr>
                  <a:t>ascaling</a:t>
                </a:r>
                <a:endParaRPr lang="en-IN" dirty="0">
                  <a:sym typeface="Wingdings" panose="05000000000000000000" pitchFamily="2" charset="2"/>
                </a:endParaRPr>
              </a:p>
              <a:p>
                <a:r>
                  <a:rPr lang="en-IN" dirty="0" err="1">
                    <a:sym typeface="Wingdings" panose="05000000000000000000" pitchFamily="2" charset="2"/>
                  </a:rPr>
                  <a:t>bshifting</a:t>
                </a:r>
                <a:endParaRPr lang="en-IN" dirty="0">
                  <a:sym typeface="Wingdings" panose="05000000000000000000" pitchFamily="2" charset="2"/>
                </a:endParaRP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0435704-AE49-558F-9597-717EAA8014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591988"/>
                <a:ext cx="2773680" cy="1226041"/>
              </a:xfrm>
              <a:prstGeom prst="rect">
                <a:avLst/>
              </a:prstGeom>
              <a:blipFill>
                <a:blip r:embed="rId5"/>
                <a:stretch>
                  <a:fillRect l="-1758" t="-24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46E842-D7DC-B84A-98F8-9FF1FF7FA09E}"/>
                  </a:ext>
                </a:extLst>
              </p:cNvPr>
              <p:cNvSpPr txBox="1"/>
              <p:nvPr/>
            </p:nvSpPr>
            <p:spPr>
              <a:xfrm>
                <a:off x="3007360" y="890952"/>
                <a:ext cx="6177280" cy="9777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lit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p>
                          </m:s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IN" b="0" dirty="0"/>
              </a:p>
              <a:p>
                <a:r>
                  <a:rPr lang="en-IN" dirty="0"/>
                  <a:t>		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j</m:t>
                        </m:r>
                      </m:sup>
                    </m:sSup>
                  </m:oMath>
                </a14:m>
                <a:endParaRPr lang="en-IN" b="0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46E842-D7DC-B84A-98F8-9FF1FF7FA0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7360" y="890952"/>
                <a:ext cx="6177280" cy="9777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E9035B6-3D9A-C9B8-9CD2-6DF8E4E4809A}"/>
                  </a:ext>
                </a:extLst>
              </p:cNvPr>
              <p:cNvSpPr txBox="1"/>
              <p:nvPr/>
            </p:nvSpPr>
            <p:spPr>
              <a:xfrm>
                <a:off x="4124960" y="1656098"/>
                <a:ext cx="2479040" cy="3782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j</m:t>
                          </m:r>
                        </m:sup>
                      </m:sSup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E9035B6-3D9A-C9B8-9CD2-6DF8E4E48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960" y="1656098"/>
                <a:ext cx="2479040" cy="37824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2CA465DD-E8E5-9A84-DD13-52A64DAD7939}"/>
              </a:ext>
            </a:extLst>
          </p:cNvPr>
          <p:cNvSpPr txBox="1"/>
          <p:nvPr/>
        </p:nvSpPr>
        <p:spPr>
          <a:xfrm>
            <a:off x="0" y="0"/>
            <a:ext cx="3512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Arial Black" panose="020B0A04020102020204" pitchFamily="34" charset="0"/>
              </a:rPr>
              <a:t>WT IS DEFINED AS:</a:t>
            </a:r>
          </a:p>
        </p:txBody>
      </p:sp>
      <p:pic>
        <p:nvPicPr>
          <p:cNvPr id="12" name="1606836706644">
            <a:hlinkClick r:id="" action="ppaction://media"/>
            <a:extLst>
              <a:ext uri="{FF2B5EF4-FFF2-40B4-BE49-F238E27FC236}">
                <a16:creationId xmlns:a16="http://schemas.microsoft.com/office/drawing/2014/main" id="{A41CCA83-3DDA-BFB8-888A-CD7CE9ED639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240531" y="2328814"/>
            <a:ext cx="5862320" cy="355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488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90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video>
              <p:cMediaNode vol="65854">
                <p:cTn id="1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1A9B68-E479-37E0-A0A2-6803A03C8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4291" y="1255929"/>
            <a:ext cx="6089905" cy="35621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EF9C244-8043-B072-51F4-118AEC9B8790}"/>
              </a:ext>
            </a:extLst>
          </p:cNvPr>
          <p:cNvSpPr txBox="1"/>
          <p:nvPr/>
        </p:nvSpPr>
        <p:spPr>
          <a:xfrm>
            <a:off x="8934196" y="5596996"/>
            <a:ext cx="10337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Aptos Display" panose="020B0004020202020204" pitchFamily="34" charset="0"/>
              </a:rPr>
              <a:t>DWT</a:t>
            </a:r>
            <a:endParaRPr lang="en-IN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C1E0BA-1CB2-DD7A-3573-5665F254F18C}"/>
              </a:ext>
            </a:extLst>
          </p:cNvPr>
          <p:cNvSpPr txBox="1"/>
          <p:nvPr/>
        </p:nvSpPr>
        <p:spPr>
          <a:xfrm>
            <a:off x="0" y="0"/>
            <a:ext cx="529336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dirty="0">
                <a:latin typeface="Arial Black" panose="020B0A04020102020204" pitchFamily="34" charset="0"/>
              </a:rPr>
              <a:t>DWT</a:t>
            </a:r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C5C20D8-194C-57A7-EB23-90A7F7A8886C}"/>
                  </a:ext>
                </a:extLst>
              </p:cNvPr>
              <p:cNvSpPr txBox="1"/>
              <p:nvPr/>
            </p:nvSpPr>
            <p:spPr>
              <a:xfrm>
                <a:off x="2397150" y="2970336"/>
                <a:ext cx="4334119" cy="7552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=−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d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C5C20D8-194C-57A7-EB23-90A7F7A88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150" y="2970336"/>
                <a:ext cx="4334119" cy="75527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3F0E807-998F-91C6-03DD-807A34DCF9EE}"/>
                  </a:ext>
                </a:extLst>
              </p:cNvPr>
              <p:cNvSpPr txBox="1"/>
              <p:nvPr/>
            </p:nvSpPr>
            <p:spPr>
              <a:xfrm>
                <a:off x="7318990" y="3007425"/>
                <a:ext cx="4334119" cy="7552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=−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d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3F0E807-998F-91C6-03DD-807A34DCF9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8990" y="3007425"/>
                <a:ext cx="4334119" cy="7552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ABBE24F-C909-530D-AD0F-8CB225CB6C81}"/>
                  </a:ext>
                </a:extLst>
              </p:cNvPr>
              <p:cNvSpPr txBox="1"/>
              <p:nvPr/>
            </p:nvSpPr>
            <p:spPr>
              <a:xfrm>
                <a:off x="2495123" y="2378341"/>
                <a:ext cx="4334119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500" dirty="0">
                    <a:latin typeface="Aptos Display" panose="020B0004020202020204" pitchFamily="34" charset="0"/>
                    <a:cs typeface="Times New Roman" panose="02020603050405020304" pitchFamily="18" charset="0"/>
                  </a:rPr>
                  <a:t>Approximation coefficients (</a:t>
                </a:r>
                <a14:m>
                  <m:oMath xmlns:m="http://schemas.openxmlformats.org/officeDocument/2006/math">
                    <m:r>
                      <a:rPr lang="en-IN" sz="2500" i="1">
                        <a:latin typeface="Cambria Math" panose="02040503050406030204" pitchFamily="18" charset="0"/>
                      </a:rPr>
                      <m:t>𝑐</m:t>
                    </m:r>
                    <m:sSub>
                      <m:sSubPr>
                        <m:ctrlPr>
                          <a:rPr lang="ar-AE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5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 sz="25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500" dirty="0">
                    <a:latin typeface="Aptos Display" panose="020B0004020202020204" pitchFamily="34" charset="0"/>
                    <a:cs typeface="Times New Roman" panose="02020603050405020304" pitchFamily="18" charset="0"/>
                  </a:rPr>
                  <a:t>)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ABBE24F-C909-530D-AD0F-8CB225CB6C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5123" y="2378341"/>
                <a:ext cx="4334119" cy="754053"/>
              </a:xfrm>
              <a:prstGeom prst="rect">
                <a:avLst/>
              </a:prstGeom>
              <a:blipFill>
                <a:blip r:embed="rId4"/>
                <a:stretch>
                  <a:fillRect l="-2250" t="-5645" r="-211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E3784A9-4020-53D4-D1F6-0E1BA26F5CBB}"/>
                  </a:ext>
                </a:extLst>
              </p:cNvPr>
              <p:cNvSpPr txBox="1"/>
              <p:nvPr/>
            </p:nvSpPr>
            <p:spPr>
              <a:xfrm>
                <a:off x="7727422" y="2325864"/>
                <a:ext cx="3576320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600" dirty="0">
                    <a:latin typeface="Aptos Display" panose="020B0004020202020204" pitchFamily="34" charset="0"/>
                    <a:cs typeface="Times New Roman" panose="02020603050405020304" pitchFamily="18" charset="0"/>
                  </a:rPr>
                  <a:t>Detail coefficients (</a:t>
                </a:r>
                <a14:m>
                  <m:oMath xmlns:m="http://schemas.openxmlformats.org/officeDocument/2006/math">
                    <m:r>
                      <a:rPr lang="en-IN" sz="2600" i="1">
                        <a:latin typeface="Cambria Math" panose="02040503050406030204" pitchFamily="18" charset="0"/>
                      </a:rPr>
                      <m:t>𝑐</m:t>
                    </m:r>
                    <m:sSub>
                      <m:sSubPr>
                        <m:ctrlPr>
                          <a:rPr lang="ar-A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ar-AE" sz="2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600" dirty="0">
                    <a:latin typeface="Aptos Display" panose="020B0004020202020204" pitchFamily="34" charset="0"/>
                    <a:cs typeface="Times New Roman" panose="02020603050405020304" pitchFamily="18" charset="0"/>
                  </a:rPr>
                  <a:t>)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E3784A9-4020-53D4-D1F6-0E1BA26F5C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7422" y="2325864"/>
                <a:ext cx="3576320" cy="769441"/>
              </a:xfrm>
              <a:prstGeom prst="rect">
                <a:avLst/>
              </a:prstGeom>
              <a:blipFill>
                <a:blip r:embed="rId5"/>
                <a:stretch>
                  <a:fillRect l="-3072" t="-793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7EA0DA6-78C0-9398-4C94-232AB55F3752}"/>
                  </a:ext>
                </a:extLst>
              </p:cNvPr>
              <p:cNvSpPr txBox="1"/>
              <p:nvPr/>
            </p:nvSpPr>
            <p:spPr>
              <a:xfrm>
                <a:off x="2125299" y="4183251"/>
                <a:ext cx="4703943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𝑐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fr-FR" dirty="0">
                    <a:latin typeface="Aptos Display" panose="020B0004020202020204" pitchFamily="34" charset="0"/>
                    <a:cs typeface="Times New Roman" panose="02020603050405020304" pitchFamily="18" charset="0"/>
                  </a:rPr>
                  <a:t>(t): Approximation coefficients at </a:t>
                </a:r>
                <a:r>
                  <a:rPr lang="fr-FR" dirty="0" err="1">
                    <a:latin typeface="Aptos Display" panose="020B0004020202020204" pitchFamily="34" charset="0"/>
                    <a:cs typeface="Times New Roman" panose="02020603050405020304" pitchFamily="18" charset="0"/>
                  </a:rPr>
                  <a:t>decomposition</a:t>
                </a:r>
                <a:r>
                  <a:rPr lang="fr-FR" dirty="0">
                    <a:latin typeface="Aptos Display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fr-FR" dirty="0" err="1">
                    <a:latin typeface="Aptos Display" panose="020B0004020202020204" pitchFamily="34" charset="0"/>
                    <a:cs typeface="Times New Roman" panose="02020603050405020304" pitchFamily="18" charset="0"/>
                  </a:rPr>
                  <a:t>level</a:t>
                </a:r>
                <a:r>
                  <a:rPr lang="fr-FR" dirty="0">
                    <a:latin typeface="Aptos Display" panose="020B000402020202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IN" dirty="0">
                  <a:latin typeface="Aptos Display" panose="020B0004020202020204" pitchFamily="34" charset="0"/>
                  <a:cs typeface="Times New Roman" panose="02020603050405020304" pitchFamily="18" charset="0"/>
                </a:endParaRPr>
              </a:p>
              <a:p>
                <a:endParaRPr lang="en-IN" dirty="0">
                  <a:latin typeface="Aptos Display" panose="020B0004020202020204" pitchFamily="34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𝑐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i="1">
                        <a:latin typeface="Cambria Math" panose="02040503050406030204" pitchFamily="18" charset="0"/>
                      </a:rPr>
                      <m:t> </m:t>
                    </m:r>
                  </m:oMath>
                </a14:m>
                <a:r>
                  <a:rPr lang="en-US" dirty="0">
                    <a:latin typeface="Aptos Display" panose="020B0004020202020204" pitchFamily="34" charset="0"/>
                    <a:cs typeface="Times New Roman" panose="02020603050405020304" pitchFamily="18" charset="0"/>
                  </a:rPr>
                  <a:t>−1​(k): Approximation coefficients from the previous level</a:t>
                </a:r>
              </a:p>
              <a:p>
                <a:endParaRPr lang="en-US" dirty="0">
                  <a:latin typeface="Aptos Display" panose="020B0004020202020204" pitchFamily="34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>
                    <a:latin typeface="Aptos Display" panose="020B0004020202020204" pitchFamily="34" charset="0"/>
                    <a:cs typeface="Times New Roman" panose="02020603050405020304" pitchFamily="18" charset="0"/>
                  </a:rPr>
                  <a:t>: </a:t>
                </a:r>
                <a:r>
                  <a:rPr lang="en-IN">
                    <a:latin typeface="Aptos Display" panose="020B0004020202020204" pitchFamily="34" charset="0"/>
                    <a:cs typeface="Times New Roman" panose="02020603050405020304" pitchFamily="18" charset="0"/>
                  </a:rPr>
                  <a:t>Wavelet </a:t>
                </a:r>
                <a:r>
                  <a:rPr lang="en-IN" dirty="0">
                    <a:latin typeface="Aptos Display" panose="020B0004020202020204" pitchFamily="34" charset="0"/>
                    <a:cs typeface="Times New Roman" panose="02020603050405020304" pitchFamily="18" charset="0"/>
                  </a:rPr>
                  <a:t>function at level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IN" dirty="0">
                  <a:latin typeface="Aptos Display" panose="020B0004020202020204" pitchFamily="34" charset="0"/>
                  <a:cs typeface="Times New Roman" panose="02020603050405020304" pitchFamily="18" charset="0"/>
                </a:endParaRPr>
              </a:p>
              <a:p>
                <a:endParaRPr lang="en-IN" dirty="0">
                  <a:latin typeface="Aptos Display" panose="020B0004020202020204" pitchFamily="34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IN" dirty="0">
                    <a:latin typeface="Aptos Display" panose="020B0004020202020204" pitchFamily="34" charset="0"/>
                    <a:cs typeface="Times New Roman" panose="02020603050405020304" pitchFamily="18" charset="0"/>
                  </a:rPr>
                  <a:t>: summation index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7EA0DA6-78C0-9398-4C94-232AB55F37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5299" y="4183251"/>
                <a:ext cx="4703943" cy="2862322"/>
              </a:xfrm>
              <a:prstGeom prst="rect">
                <a:avLst/>
              </a:prstGeom>
              <a:blipFill>
                <a:blip r:embed="rId6"/>
                <a:stretch>
                  <a:fillRect l="-908" t="-8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9FC5F60-CE60-86F4-0DB4-6AF3B891AA5B}"/>
                  </a:ext>
                </a:extLst>
              </p:cNvPr>
              <p:cNvSpPr txBox="1"/>
              <p:nvPr/>
            </p:nvSpPr>
            <p:spPr>
              <a:xfrm>
                <a:off x="7318990" y="4183251"/>
                <a:ext cx="4873010" cy="25853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i="1" smtClean="0">
                        <a:latin typeface="Cambria Math" panose="02040503050406030204" pitchFamily="18" charset="0"/>
                      </a:rPr>
                      <m:t>𝑐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>
                    <a:latin typeface="Aptos Display" panose="020B0004020202020204" pitchFamily="34" charset="0"/>
                    <a:cs typeface="Times New Roman" panose="02020603050405020304" pitchFamily="18" charset="0"/>
                  </a:rPr>
                  <a:t>: </a:t>
                </a:r>
                <a:r>
                  <a:rPr lang="en-IN" dirty="0">
                    <a:latin typeface="Aptos Display" panose="020B0004020202020204" pitchFamily="34" charset="0"/>
                    <a:cs typeface="Times New Roman" panose="02020603050405020304" pitchFamily="18" charset="0"/>
                  </a:rPr>
                  <a:t>Detail coefficients at decomposition level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IN" dirty="0">
                  <a:latin typeface="Aptos Display" panose="020B0004020202020204" pitchFamily="34" charset="0"/>
                  <a:cs typeface="Times New Roman" panose="02020603050405020304" pitchFamily="18" charset="0"/>
                </a:endParaRPr>
              </a:p>
              <a:p>
                <a:endParaRPr lang="en-IN" dirty="0">
                  <a:latin typeface="Aptos Display" panose="020B0004020202020204" pitchFamily="34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𝑐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i="1">
                        <a:latin typeface="Cambria Math" panose="02040503050406030204" pitchFamily="18" charset="0"/>
                      </a:rPr>
                      <m:t> 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1​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IN" dirty="0">
                    <a:latin typeface="Aptos Display" panose="020B0004020202020204" pitchFamily="34" charset="0"/>
                    <a:cs typeface="Times New Roman" panose="02020603050405020304" pitchFamily="18" charset="0"/>
                  </a:rPr>
                  <a:t>Approximation coefficients from the previous level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>
                  <a:latin typeface="Aptos Display" panose="020B0004020202020204" pitchFamily="34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dirty="0">
                    <a:latin typeface="Aptos Display" panose="020B0004020202020204" pitchFamily="34" charset="0"/>
                    <a:cs typeface="Times New Roman" panose="02020603050405020304" pitchFamily="18" charset="0"/>
                  </a:rPr>
                  <a:t> (t): </a:t>
                </a:r>
                <a:r>
                  <a:rPr lang="en-US" dirty="0">
                    <a:latin typeface="Aptos Display" panose="020B0004020202020204" pitchFamily="34" charset="0"/>
                    <a:cs typeface="Times New Roman" panose="02020603050405020304" pitchFamily="18" charset="0"/>
                  </a:rPr>
                  <a:t>scaling function at level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IN" dirty="0">
                  <a:latin typeface="Aptos Display" panose="020B0004020202020204" pitchFamily="34" charset="0"/>
                  <a:cs typeface="Times New Roman" panose="02020603050405020304" pitchFamily="18" charset="0"/>
                </a:endParaRPr>
              </a:p>
              <a:p>
                <a:endParaRPr lang="en-IN" dirty="0">
                  <a:latin typeface="Aptos Display" panose="020B0004020202020204" pitchFamily="34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IN" dirty="0">
                    <a:latin typeface="Aptos Display" panose="020B0004020202020204" pitchFamily="34" charset="0"/>
                    <a:cs typeface="Times New Roman" panose="02020603050405020304" pitchFamily="18" charset="0"/>
                  </a:rPr>
                  <a:t>: summation index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9FC5F60-CE60-86F4-0DB4-6AF3B891AA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8990" y="4183251"/>
                <a:ext cx="4873010" cy="2585323"/>
              </a:xfrm>
              <a:prstGeom prst="rect">
                <a:avLst/>
              </a:prstGeom>
              <a:blipFill>
                <a:blip r:embed="rId7"/>
                <a:stretch>
                  <a:fillRect l="-876" t="-1415" b="-306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BCE51B43-D91E-C921-B778-0C2F609416F0}"/>
              </a:ext>
            </a:extLst>
          </p:cNvPr>
          <p:cNvSpPr txBox="1"/>
          <p:nvPr/>
        </p:nvSpPr>
        <p:spPr>
          <a:xfrm>
            <a:off x="3653973" y="825389"/>
            <a:ext cx="84772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In wavelet decomposition, approximation coefficients contain the low-frequency information of the signal, whereas detail coefficients contain the high-frequency information.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400" dirty="0">
              <a:latin typeface="Aptos Display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2BAC75-FF38-15B4-EF14-A17E29E7EB36}"/>
              </a:ext>
            </a:extLst>
          </p:cNvPr>
          <p:cNvSpPr txBox="1"/>
          <p:nvPr/>
        </p:nvSpPr>
        <p:spPr>
          <a:xfrm>
            <a:off x="3251200" y="0"/>
            <a:ext cx="5557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Arial Black" panose="020B0A04020102020204" pitchFamily="34" charset="0"/>
              </a:rPr>
              <a:t>ECG Signal Decomposition:</a:t>
            </a:r>
          </a:p>
        </p:txBody>
      </p:sp>
    </p:spTree>
    <p:extLst>
      <p:ext uri="{BB962C8B-B14F-4D97-AF65-F5344CB8AC3E}">
        <p14:creationId xmlns:p14="http://schemas.microsoft.com/office/powerpoint/2010/main" val="3325420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3075E55-0B30-B890-4A8E-F84431C66A79}"/>
              </a:ext>
            </a:extLst>
          </p:cNvPr>
          <p:cNvSpPr txBox="1"/>
          <p:nvPr/>
        </p:nvSpPr>
        <p:spPr>
          <a:xfrm>
            <a:off x="3185160" y="91854"/>
            <a:ext cx="3576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Arial Black" panose="020B0A04020102020204" pitchFamily="34" charset="0"/>
              </a:rPr>
              <a:t>Thresholding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A921729-7B11-99CE-1943-3476088B7114}"/>
                  </a:ext>
                </a:extLst>
              </p:cNvPr>
              <p:cNvSpPr txBox="1"/>
              <p:nvPr/>
            </p:nvSpPr>
            <p:spPr>
              <a:xfrm>
                <a:off x="3185160" y="971372"/>
                <a:ext cx="42164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3936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1829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</m:fun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32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  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32</m:t>
                      </m:r>
                    </m:oMath>
                  </m:oMathPara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A921729-7B11-99CE-1943-3476088B71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5160" y="971372"/>
                <a:ext cx="4216400" cy="923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ECB906A-915E-C14F-9197-8DFF224FC888}"/>
                  </a:ext>
                </a:extLst>
              </p:cNvPr>
              <p:cNvSpPr txBox="1"/>
              <p:nvPr/>
            </p:nvSpPr>
            <p:spPr>
              <a:xfrm>
                <a:off x="2265680" y="1894702"/>
                <a:ext cx="3972560" cy="6703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𝑚𝑒𝑑𝑖𝑎𝑛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6745</m:t>
                          </m:r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ECB906A-915E-C14F-9197-8DFF224FC8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5680" y="1894702"/>
                <a:ext cx="3972560" cy="6703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01B7D3D7-05DA-F6E2-68B6-9FF85B7D6755}"/>
              </a:ext>
            </a:extLst>
          </p:cNvPr>
          <p:cNvSpPr txBox="1"/>
          <p:nvPr/>
        </p:nvSpPr>
        <p:spPr>
          <a:xfrm>
            <a:off x="169998" y="3488408"/>
            <a:ext cx="49072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ptos Display" panose="020B0004020202020204" pitchFamily="34" charset="0"/>
              </a:rPr>
              <a:t>N is the length of the signal vector.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 err="1">
                <a:latin typeface="Aptos Display" panose="020B0004020202020204" pitchFamily="34" charset="0"/>
              </a:rPr>
              <a:t>i</a:t>
            </a:r>
            <a:r>
              <a:rPr lang="en-US" altLang="en-US" sz="2400" dirty="0">
                <a:latin typeface="Aptos Display" panose="020B0004020202020204" pitchFamily="34" charset="0"/>
              </a:rPr>
              <a:t> → index of the coefficient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ptos Display" panose="020B0004020202020204" pitchFamily="34" charset="0"/>
              </a:rPr>
              <a:t>j → decomposition level</a:t>
            </a:r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481F3C-8D60-4496-E486-C2007BEDBA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240" y="2253231"/>
            <a:ext cx="5673453" cy="402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04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EF8DF-096D-45BB-6558-FB0DF31C9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41E78E4-AFB7-7A8F-AB38-EF38D87C3206}"/>
              </a:ext>
            </a:extLst>
          </p:cNvPr>
          <p:cNvSpPr txBox="1"/>
          <p:nvPr/>
        </p:nvSpPr>
        <p:spPr>
          <a:xfrm>
            <a:off x="3185160" y="91854"/>
            <a:ext cx="61956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Arial Black" panose="020B0A04020102020204" pitchFamily="34" charset="0"/>
              </a:rPr>
              <a:t>Thresholding Function</a:t>
            </a:r>
          </a:p>
        </p:txBody>
      </p:sp>
      <p:pic>
        <p:nvPicPr>
          <p:cNvPr id="3" name="Content Placeholder 9">
            <a:extLst>
              <a:ext uri="{FF2B5EF4-FFF2-40B4-BE49-F238E27FC236}">
                <a16:creationId xmlns:a16="http://schemas.microsoft.com/office/drawing/2014/main" id="{883F814D-B9AF-471D-E09B-DC06B2F7B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5000" y="1529061"/>
            <a:ext cx="2880320" cy="3135265"/>
          </a:xfrm>
          <a:prstGeom prst="rect">
            <a:avLst/>
          </a:prstGeom>
        </p:spPr>
      </p:pic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5984710A-3A97-A9B0-E30F-39FA92D15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6902" y="1567908"/>
            <a:ext cx="3079254" cy="3057570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DE51879-5905-290F-1825-E6DCDF2689A0}"/>
              </a:ext>
            </a:extLst>
          </p:cNvPr>
          <p:cNvSpPr txBox="1">
            <a:spLocks/>
          </p:cNvSpPr>
          <p:nvPr/>
        </p:nvSpPr>
        <p:spPr>
          <a:xfrm>
            <a:off x="531224" y="998757"/>
            <a:ext cx="4176464" cy="42084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latin typeface="Aptos Display" panose="020B0004020202020204" pitchFamily="34" charset="0"/>
              </a:rPr>
              <a:t>Soft Thresholding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1BCE37AD-D062-74D3-059D-4BB1A8E9D6A8}"/>
              </a:ext>
            </a:extLst>
          </p:cNvPr>
          <p:cNvSpPr txBox="1">
            <a:spLocks/>
          </p:cNvSpPr>
          <p:nvPr/>
        </p:nvSpPr>
        <p:spPr>
          <a:xfrm>
            <a:off x="6715253" y="877027"/>
            <a:ext cx="4009238" cy="54257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latin typeface="Aptos Display" panose="020B0004020202020204" pitchFamily="34" charset="0"/>
              </a:rPr>
              <a:t>Hard Thresholding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4D8E59B-B3D3-86FE-A55D-A33E13AB3610}"/>
                  </a:ext>
                </a:extLst>
              </p:cNvPr>
              <p:cNvSpPr txBox="1"/>
              <p:nvPr/>
            </p:nvSpPr>
            <p:spPr>
              <a:xfrm>
                <a:off x="1662632" y="5166120"/>
                <a:ext cx="32751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𝑑𝑖</m:t>
                              </m:r>
                            </m:sub>
                          </m:sSub>
                        </m:e>
                      </m:acc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𝑑𝑖</m:t>
                              </m:r>
                            </m:sub>
                          </m:sSub>
                        </m:e>
                      </m:acc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       </m:t>
                      </m:r>
                      <m:d>
                        <m:dPr>
                          <m:begChr m:val="|"/>
                          <m:endChr m:val="|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𝑑𝑖</m:t>
                                  </m:r>
                                </m:sub>
                              </m:sSub>
                            </m:e>
                          </m:acc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d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i="1"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4D8E59B-B3D3-86FE-A55D-A33E13AB36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2632" y="5166120"/>
                <a:ext cx="3275128" cy="369332"/>
              </a:xfrm>
              <a:prstGeom prst="rect">
                <a:avLst/>
              </a:prstGeom>
              <a:blipFill>
                <a:blip r:embed="rId4"/>
                <a:stretch>
                  <a:fillRect t="-65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94B6FA-E1AF-D232-4ACA-A4FDEDCD80F3}"/>
                  </a:ext>
                </a:extLst>
              </p:cNvPr>
              <p:cNvSpPr txBox="1"/>
              <p:nvPr/>
            </p:nvSpPr>
            <p:spPr>
              <a:xfrm>
                <a:off x="1662632" y="5706762"/>
                <a:ext cx="32751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𝑑𝑖</m:t>
                              </m:r>
                            </m:sub>
                          </m:sSub>
                        </m:e>
                      </m:acc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       </m:t>
                      </m:r>
                      <m:d>
                        <m:dPr>
                          <m:begChr m:val="|"/>
                          <m:endChr m:val="|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𝑑𝑖</m:t>
                                  </m:r>
                                </m:sub>
                              </m:sSub>
                            </m:e>
                          </m:acc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d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94B6FA-E1AF-D232-4ACA-A4FDEDCD80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2632" y="5706762"/>
                <a:ext cx="3275128" cy="369332"/>
              </a:xfrm>
              <a:prstGeom prst="rect">
                <a:avLst/>
              </a:prstGeom>
              <a:blipFill>
                <a:blip r:embed="rId5"/>
                <a:stretch>
                  <a:fillRect t="-65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AD6F169-FFC4-1EBA-957E-09F2FD8886B3}"/>
                  </a:ext>
                </a:extLst>
              </p:cNvPr>
              <p:cNvSpPr txBox="1"/>
              <p:nvPr/>
            </p:nvSpPr>
            <p:spPr>
              <a:xfrm>
                <a:off x="6715252" y="5166120"/>
                <a:ext cx="38141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𝑑𝑖</m:t>
                              </m:r>
                            </m:sub>
                          </m:sSub>
                        </m:e>
                      </m:acc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𝑑𝑖</m:t>
                              </m:r>
                            </m:sub>
                          </m:sSub>
                        </m:e>
                      </m:acc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− |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       </m:t>
                      </m:r>
                      <m:d>
                        <m:dPr>
                          <m:begChr m:val="|"/>
                          <m:endChr m:val="|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𝑑𝑖</m:t>
                                  </m:r>
                                </m:sub>
                              </m:sSub>
                            </m:e>
                          </m:acc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d>
                        </m:e>
                      </m:d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i="1"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AD6F169-FFC4-1EBA-957E-09F2FD8886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5252" y="5166120"/>
                <a:ext cx="3814115" cy="369332"/>
              </a:xfrm>
              <a:prstGeom prst="rect">
                <a:avLst/>
              </a:prstGeom>
              <a:blipFill>
                <a:blip r:embed="rId6"/>
                <a:stretch>
                  <a:fillRect t="-6557" b="-131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B62AF3C-686B-76F8-0FF7-D996E4AED6EA}"/>
                  </a:ext>
                </a:extLst>
              </p:cNvPr>
              <p:cNvSpPr txBox="1"/>
              <p:nvPr/>
            </p:nvSpPr>
            <p:spPr>
              <a:xfrm>
                <a:off x="6715251" y="5706762"/>
                <a:ext cx="38141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𝑑𝑖</m:t>
                              </m:r>
                            </m:sub>
                          </m:sSub>
                        </m:e>
                      </m:acc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       </m:t>
                      </m:r>
                      <m:d>
                        <m:dPr>
                          <m:begChr m:val="|"/>
                          <m:endChr m:val="|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𝑑𝑖</m:t>
                                  </m:r>
                                </m:sub>
                              </m:sSub>
                            </m:e>
                          </m:acc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d>
                        </m:e>
                      </m:d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i="1"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B62AF3C-686B-76F8-0FF7-D996E4AED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5251" y="5706762"/>
                <a:ext cx="3814115" cy="369332"/>
              </a:xfrm>
              <a:prstGeom prst="rect">
                <a:avLst/>
              </a:prstGeom>
              <a:blipFill>
                <a:blip r:embed="rId7"/>
                <a:stretch>
                  <a:fillRect t="-65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4947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CEC552-59DD-8A3E-BADF-EA1D394C3576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Arial Black" panose="020B0A04020102020204" pitchFamily="34" charset="0"/>
              </a:rPr>
              <a:t>Reconstruction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2451F48-171D-D33B-2374-C3570E3EEF61}"/>
                  </a:ext>
                </a:extLst>
              </p:cNvPr>
              <p:cNvSpPr txBox="1"/>
              <p:nvPr/>
            </p:nvSpPr>
            <p:spPr>
              <a:xfrm>
                <a:off x="1757680" y="917204"/>
                <a:ext cx="6746240" cy="7552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=−</m:t>
                          </m:r>
                          <m:r>
                            <m:rPr>
                              <m:brk m:alnAt="25"/>
                            </m:r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𝑐𝐴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d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d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subSup"/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5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=−</m:t>
                                  </m:r>
                                  <m:r>
                                    <m:rPr>
                                      <m:brk m:alnAt="23"/>
                                    </m:rP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∞</m:t>
                                  </m:r>
                                </m:sub>
                                <m:sup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∞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𝑐𝐷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2451F48-171D-D33B-2374-C3570E3EEF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7680" y="917204"/>
                <a:ext cx="6746240" cy="7552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7364E877-D636-774A-EE79-C0EAF7B4CC44}"/>
              </a:ext>
            </a:extLst>
          </p:cNvPr>
          <p:cNvSpPr txBox="1"/>
          <p:nvPr/>
        </p:nvSpPr>
        <p:spPr>
          <a:xfrm>
            <a:off x="436880" y="1110173"/>
            <a:ext cx="187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Aptos Display" panose="020B0004020202020204" pitchFamily="34" charset="0"/>
              </a:rPr>
              <a:t>ECG_denoised</a:t>
            </a:r>
            <a:r>
              <a:rPr lang="en-IN" dirty="0">
                <a:latin typeface="Aptos Display" panose="020B0004020202020204" pitchFamily="34" charset="0"/>
              </a:rPr>
              <a:t> 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E2CC227-FD74-A08C-074E-7A83A46E20A2}"/>
                  </a:ext>
                </a:extLst>
              </p:cNvPr>
              <p:cNvSpPr txBox="1"/>
              <p:nvPr/>
            </p:nvSpPr>
            <p:spPr>
              <a:xfrm>
                <a:off x="0" y="2136317"/>
                <a:ext cx="8503920" cy="37029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n-I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𝑐</m:t>
                    </m:r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d>
                      <m:d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IN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Aptos Display" panose="020B0004020202020204" pitchFamily="34" charset="0"/>
                  </a:rPr>
                  <a:t>→ Approximation coefficients at final level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IN" sz="2400" dirty="0">
                  <a:latin typeface="Aptos Display" panose="020B00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sz="2400" dirty="0">
                  <a:latin typeface="Aptos Display" panose="020B00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IN" sz="240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IN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Aptos Display" panose="020B0004020202020204" pitchFamily="34" charset="0"/>
                  </a:rPr>
                  <a:t>→ </a:t>
                </a:r>
                <a:r>
                  <a:rPr lang="en-US" sz="2400" dirty="0" err="1">
                    <a:latin typeface="Aptos Display" panose="020B0004020202020204" pitchFamily="34" charset="0"/>
                  </a:rPr>
                  <a:t>Thresholded</a:t>
                </a:r>
                <a:r>
                  <a:rPr lang="en-US" sz="2400" dirty="0">
                    <a:latin typeface="Aptos Display" panose="020B0004020202020204" pitchFamily="34" charset="0"/>
                  </a:rPr>
                  <a:t> detail coefficients at level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IN" sz="2400" dirty="0">
                  <a:latin typeface="Aptos Display" panose="020B00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sz="2400" dirty="0">
                  <a:latin typeface="Aptos Display" panose="020B00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Aptos Display" panose="020B0004020202020204" pitchFamily="34" charset="0"/>
                  </a:rPr>
                  <a:t>ϕ(t) → Scaling (low-pass) function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>
                  <a:latin typeface="Aptos Display" panose="020B00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sz="2400" dirty="0">
                    <a:latin typeface="Aptos Display" panose="020B0004020202020204" pitchFamily="34" charset="0"/>
                  </a:rPr>
                  <a:t>→ </a:t>
                </a:r>
                <a:r>
                  <a:rPr lang="en-IN" sz="2400" dirty="0">
                    <a:latin typeface="Aptos Display" panose="020B0004020202020204" pitchFamily="34" charset="0"/>
                  </a:rPr>
                  <a:t>Wavelet (high-pass) function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sz="2400" dirty="0">
                  <a:latin typeface="Aptos Display" panose="020B00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Aptos Display" panose="020B0004020202020204" pitchFamily="34" charset="0"/>
                  </a:rPr>
                  <a:t>L → Total number of decomposition levels</a:t>
                </a:r>
                <a:endParaRPr lang="en-IN" sz="2400" dirty="0">
                  <a:latin typeface="Aptos Display" panose="020B0004020202020204" pitchFamily="34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E2CC227-FD74-A08C-074E-7A83A46E20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136317"/>
                <a:ext cx="8503920" cy="3702937"/>
              </a:xfrm>
              <a:prstGeom prst="rect">
                <a:avLst/>
              </a:prstGeom>
              <a:blipFill>
                <a:blip r:embed="rId4"/>
                <a:stretch>
                  <a:fillRect l="-932" b="-27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81BCD8-1DCA-893E-C6EB-08D79D58FC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98BE91-A0A9-F153-5964-414E0C593C0C}"/>
              </a:ext>
            </a:extLst>
          </p:cNvPr>
          <p:cNvSpPr txBox="1"/>
          <p:nvPr/>
        </p:nvSpPr>
        <p:spPr>
          <a:xfrm>
            <a:off x="0" y="0"/>
            <a:ext cx="12192000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Arial Black" panose="020B0A04020102020204" pitchFamily="34" charset="0"/>
              </a:rPr>
              <a:t>Particle Swarm Optimisation</a:t>
            </a:r>
          </a:p>
          <a:p>
            <a:endParaRPr lang="en-IN" sz="3200" dirty="0">
              <a:latin typeface="Arial Black" panose="020B0A040201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ptos Display" panose="020B0004020202020204" pitchFamily="34" charset="0"/>
              </a:rPr>
              <a:t>PSO is an optimization algorithm used to find the best solution to a problem.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Aptos Display" panose="020B00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ptos Display" panose="020B0004020202020204" pitchFamily="34" charset="0"/>
              </a:rPr>
              <a:t>It is inspired by the behavior of birds or fish moving in groups.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Aptos Display" panose="020B00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ptos Display" panose="020B0004020202020204" pitchFamily="34" charset="0"/>
              </a:rPr>
              <a:t>When they search for food, they do not know the exact location.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Aptos Display" panose="020B00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ptos Display" panose="020B0004020202020204" pitchFamily="34" charset="0"/>
              </a:rPr>
              <a:t>But one bird may find food first.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Aptos Display" panose="020B00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ptos Display" panose="020B0004020202020204" pitchFamily="34" charset="0"/>
              </a:rPr>
              <a:t>The other birds observe its movement and move toward that area.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ptos Display" panose="020B00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ptos Display" panose="020B0004020202020204" pitchFamily="34" charset="0"/>
              </a:rPr>
              <a:t>In PSO, many possible solutions are created and called particles.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Aptos Display" panose="020B00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ptos Display" panose="020B0004020202020204" pitchFamily="34" charset="0"/>
              </a:rPr>
              <a:t>A group of these particles is called a swarm.</a:t>
            </a:r>
          </a:p>
          <a:p>
            <a:endParaRPr lang="en-IN" sz="3200" dirty="0">
              <a:latin typeface="Arial Black" panose="020B0A04020102020204" pitchFamily="34" charset="0"/>
            </a:endParaRPr>
          </a:p>
          <a:p>
            <a:endParaRPr lang="en-IN" sz="3200" dirty="0">
              <a:latin typeface="Arial Black" panose="020B0A04020102020204" pitchFamily="34" charset="0"/>
            </a:endParaRPr>
          </a:p>
          <a:p>
            <a:endParaRPr lang="en-IN" sz="3200" dirty="0">
              <a:latin typeface="Arial Black" panose="020B0A040201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5584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012FDC-7484-2B3B-E496-144348256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153EB2-2CBB-E110-E4D8-96C780A1144C}"/>
              </a:ext>
            </a:extLst>
          </p:cNvPr>
          <p:cNvSpPr txBox="1"/>
          <p:nvPr/>
        </p:nvSpPr>
        <p:spPr>
          <a:xfrm>
            <a:off x="0" y="0"/>
            <a:ext cx="121920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Particle → one possible solution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Swarm → group of particles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Aptos Display" panose="020B0004020202020204" pitchFamily="34" charset="0"/>
              </a:rPr>
              <a:t>In Each particle we have 5 parameters such as</a:t>
            </a:r>
            <a:endParaRPr lang="en-US" altLang="en-US" sz="2800" dirty="0">
              <a:latin typeface="Aptos Display" panose="020B00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ptos Display" panose="020B0004020202020204" pitchFamily="34" charset="0"/>
              </a:rPr>
              <a:t>Wavelet basis function (ϕ) - </a:t>
            </a:r>
            <a:r>
              <a:rPr lang="en-IN" sz="2800" dirty="0" err="1">
                <a:latin typeface="Aptos Display" panose="020B0004020202020204" pitchFamily="34" charset="0"/>
              </a:rPr>
              <a:t>Coiflet</a:t>
            </a:r>
            <a:r>
              <a:rPr lang="en-IN" sz="2800" dirty="0">
                <a:latin typeface="Aptos Display" panose="020B0004020202020204" pitchFamily="34" charset="0"/>
              </a:rPr>
              <a:t> , </a:t>
            </a:r>
            <a:r>
              <a:rPr lang="en-IN" sz="2800" dirty="0" err="1">
                <a:latin typeface="Aptos Display" panose="020B0004020202020204" pitchFamily="34" charset="0"/>
              </a:rPr>
              <a:t>Symlet</a:t>
            </a:r>
            <a:r>
              <a:rPr lang="en-IN" sz="2800" dirty="0">
                <a:latin typeface="Aptos Display" panose="020B0004020202020204" pitchFamily="34" charset="0"/>
              </a:rPr>
              <a:t> , Daubechies, Fejer-</a:t>
            </a:r>
            <a:r>
              <a:rPr lang="en-IN" sz="2800" dirty="0" err="1">
                <a:latin typeface="Aptos Display" panose="020B0004020202020204" pitchFamily="34" charset="0"/>
              </a:rPr>
              <a:t>Korovkin</a:t>
            </a:r>
            <a:r>
              <a:rPr lang="en-IN" sz="2800" dirty="0">
                <a:latin typeface="Aptos Display" panose="020B0004020202020204" pitchFamily="34" charset="0"/>
              </a:rPr>
              <a:t> and Biorthogonal 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800" dirty="0">
              <a:latin typeface="Aptos Display" panose="020B00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ptos Display" panose="020B0004020202020204" pitchFamily="34" charset="0"/>
              </a:rPr>
              <a:t>Threshold function (β) – soft ,hard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800" dirty="0">
              <a:latin typeface="Aptos Display" panose="020B00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ptos Display" panose="020B0004020202020204" pitchFamily="34" charset="0"/>
              </a:rPr>
              <a:t>Level of decomposition (L) – 1 to 10 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800" dirty="0">
              <a:latin typeface="Aptos Display" panose="020B00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ptos Display" panose="020B0004020202020204" pitchFamily="34" charset="0"/>
              </a:rPr>
              <a:t>Threshold selection rule (λ) - </a:t>
            </a:r>
            <a:r>
              <a:rPr lang="en-IN" sz="2800" dirty="0" err="1">
                <a:latin typeface="Aptos Display" panose="020B0004020202020204" pitchFamily="34" charset="0"/>
              </a:rPr>
              <a:t>Sqtwolog</a:t>
            </a:r>
            <a:r>
              <a:rPr lang="en-IN" sz="2800" dirty="0">
                <a:latin typeface="Aptos Display" panose="020B0004020202020204" pitchFamily="34" charset="0"/>
              </a:rPr>
              <a:t>, Minimax, </a:t>
            </a:r>
            <a:r>
              <a:rPr lang="en-IN" sz="2800" dirty="0" err="1">
                <a:latin typeface="Aptos Display" panose="020B0004020202020204" pitchFamily="34" charset="0"/>
              </a:rPr>
              <a:t>Heursure</a:t>
            </a:r>
            <a:r>
              <a:rPr lang="en-IN" sz="2800" dirty="0">
                <a:latin typeface="Aptos Display" panose="020B0004020202020204" pitchFamily="34" charset="0"/>
              </a:rPr>
              <a:t>, and </a:t>
            </a:r>
            <a:r>
              <a:rPr lang="en-IN" sz="2800" dirty="0" err="1">
                <a:latin typeface="Aptos Display" panose="020B0004020202020204" pitchFamily="34" charset="0"/>
              </a:rPr>
              <a:t>Rigsure</a:t>
            </a:r>
            <a:endParaRPr lang="en-IN" sz="2800" dirty="0">
              <a:latin typeface="Aptos Display" panose="020B00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800" dirty="0">
              <a:latin typeface="Aptos Display" panose="020B00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ptos Display" panose="020B0004020202020204" pitchFamily="34" charset="0"/>
              </a:rPr>
              <a:t>rescaling approach (ρ) - </a:t>
            </a:r>
            <a:r>
              <a:rPr lang="en-US" sz="2800" dirty="0">
                <a:latin typeface="Aptos Display" panose="020B0004020202020204" pitchFamily="34" charset="0"/>
              </a:rPr>
              <a:t>No scaling (one), one level (</a:t>
            </a:r>
            <a:r>
              <a:rPr lang="en-US" sz="2800" dirty="0" err="1">
                <a:latin typeface="Aptos Display" panose="020B0004020202020204" pitchFamily="34" charset="0"/>
              </a:rPr>
              <a:t>sln</a:t>
            </a:r>
            <a:r>
              <a:rPr lang="en-US" sz="2800" dirty="0">
                <a:latin typeface="Aptos Display" panose="020B0004020202020204" pitchFamily="34" charset="0"/>
              </a:rPr>
              <a:t>), Several levels (</a:t>
            </a:r>
            <a:r>
              <a:rPr lang="en-US" sz="2800" dirty="0" err="1">
                <a:latin typeface="Aptos Display" panose="020B0004020202020204" pitchFamily="34" charset="0"/>
              </a:rPr>
              <a:t>mln</a:t>
            </a:r>
            <a:r>
              <a:rPr lang="en-US" sz="2800" dirty="0">
                <a:latin typeface="Aptos Display" panose="020B0004020202020204" pitchFamily="34" charset="0"/>
              </a:rPr>
              <a:t>). </a:t>
            </a:r>
            <a:endParaRPr lang="en-IN" sz="2800" dirty="0">
              <a:latin typeface="Aptos Display" panose="020B0004020202020204" pitchFamily="34" charset="0"/>
            </a:endParaRPr>
          </a:p>
          <a:p>
            <a:endParaRPr lang="en-IN" sz="2800" dirty="0">
              <a:latin typeface="Arial Black" panose="020B0A040201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C6D7F75-651F-5B5C-5E3C-19F08C6FF53D}"/>
                  </a:ext>
                </a:extLst>
              </p:cNvPr>
              <p:cNvSpPr txBox="1"/>
              <p:nvPr/>
            </p:nvSpPr>
            <p:spPr>
              <a:xfrm>
                <a:off x="6678385" y="604156"/>
                <a:ext cx="25282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=[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C6D7F75-651F-5B5C-5E3C-19F08C6FF5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8385" y="604156"/>
                <a:ext cx="2528207" cy="369332"/>
              </a:xfrm>
              <a:prstGeom prst="rect">
                <a:avLst/>
              </a:prstGeom>
              <a:blipFill>
                <a:blip r:embed="rId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8348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CCC460-8074-B32B-1FB5-A6BE898C76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1D3F0C-F554-42BC-D010-A4E6EA859D01}"/>
              </a:ext>
            </a:extLst>
          </p:cNvPr>
          <p:cNvSpPr txBox="1"/>
          <p:nvPr/>
        </p:nvSpPr>
        <p:spPr>
          <a:xfrm>
            <a:off x="0" y="0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Arial Black" panose="020B0A04020102020204" pitchFamily="34" charset="0"/>
              </a:rPr>
              <a:t>Threshold Selection Rules</a:t>
            </a:r>
          </a:p>
          <a:p>
            <a:endParaRPr lang="en-IN" dirty="0"/>
          </a:p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8">
                <a:extLst>
                  <a:ext uri="{FF2B5EF4-FFF2-40B4-BE49-F238E27FC236}">
                    <a16:creationId xmlns:a16="http://schemas.microsoft.com/office/drawing/2014/main" id="{17C9135E-E07B-8842-51DA-189520A3A3BB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399463108"/>
                  </p:ext>
                </p:extLst>
              </p:nvPr>
            </p:nvGraphicFramePr>
            <p:xfrm>
              <a:off x="694308" y="1221787"/>
              <a:ext cx="10136252" cy="4835659"/>
            </p:xfrm>
            <a:graphic>
              <a:graphicData uri="http://schemas.openxmlformats.org/drawingml/2006/table">
                <a:tbl>
                  <a:tblPr/>
                  <a:tblGrid>
                    <a:gridCol w="2040409">
                      <a:extLst>
                        <a:ext uri="{9D8B030D-6E8A-4147-A177-3AD203B41FA5}">
                          <a16:colId xmlns:a16="http://schemas.microsoft.com/office/drawing/2014/main" val="548301215"/>
                        </a:ext>
                      </a:extLst>
                    </a:gridCol>
                    <a:gridCol w="8095843">
                      <a:extLst>
                        <a:ext uri="{9D8B030D-6E8A-4147-A177-3AD203B41FA5}">
                          <a16:colId xmlns:a16="http://schemas.microsoft.com/office/drawing/2014/main" val="2035718867"/>
                        </a:ext>
                      </a:extLst>
                    </a:gridCol>
                  </a:tblGrid>
                  <a:tr h="44317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dirty="0">
                              <a:latin typeface="Aptos Display" panose="020B0004020202020204" pitchFamily="34" charset="0"/>
                            </a:rPr>
                            <a:t>Rule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b="1" dirty="0">
                              <a:latin typeface="Aptos Display" panose="020B0004020202020204" pitchFamily="34" charset="0"/>
                            </a:rPr>
                            <a:t>Simple Meaning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38061677"/>
                      </a:ext>
                    </a:extLst>
                  </a:tr>
                  <a:tr h="88634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b="1" dirty="0" err="1">
                              <a:latin typeface="Aptos Display" panose="020B0004020202020204" pitchFamily="34" charset="0"/>
                            </a:rPr>
                            <a:t>Rigrsure</a:t>
                          </a:r>
                          <a:endParaRPr lang="en-IN" sz="2000" dirty="0">
                            <a:latin typeface="Aptos Display" panose="020B0004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2000" dirty="0">
                              <a:latin typeface="Aptos Display" panose="020B0004020202020204" pitchFamily="34" charset="0"/>
                            </a:rPr>
                            <a:t>Estimates the error between denoised and true signal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2000" dirty="0">
                              <a:latin typeface="Aptos Display" panose="020B0004020202020204" pitchFamily="34" charset="0"/>
                            </a:rPr>
                            <a:t>Chooses threshold that minimizes this error.</a:t>
                          </a:r>
                        </a:p>
                        <a:p>
                          <a:pPr>
                            <a:buNone/>
                          </a:pPr>
                          <a:endParaRPr lang="en-US" sz="2000" dirty="0">
                            <a:latin typeface="Aptos Display" panose="020B0004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29740353"/>
                      </a:ext>
                    </a:extLst>
                  </a:tr>
                  <a:tr h="157072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b="1" dirty="0" err="1">
                              <a:latin typeface="Aptos Display" panose="020B0004020202020204" pitchFamily="34" charset="0"/>
                            </a:rPr>
                            <a:t>Sqtwolog</a:t>
                          </a:r>
                          <a:endParaRPr lang="en-IN" sz="2000" dirty="0">
                            <a:latin typeface="Aptos Display" panose="020B0004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IN" sz="2000" dirty="0">
                              <a:latin typeface="Aptos Display" panose="020B0004020202020204" pitchFamily="34" charset="0"/>
                            </a:rPr>
                            <a:t>The threshold formula: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000" i="1" kern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𝑇</m:t>
                                </m:r>
                                <m:r>
                                  <a:rPr lang="en-IN" sz="2000" i="0" kern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r>
                                  <a:rPr lang="en-IN" sz="2000" i="1" kern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𝜎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ar-AE" sz="2000" i="1" kern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ar-AE" sz="2000" i="0" kern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  <m:func>
                                      <m:funcPr>
                                        <m:ctrlPr>
                                          <a:rPr lang="ar-AE" sz="2000" i="1" kern="12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000" i="0" kern="12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ar-AE" sz="2000" i="1" kern="12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𝑀</m:t>
                                        </m:r>
                                      </m:e>
                                    </m:func>
                                  </m:e>
                                </m:rad>
                              </m:oMath>
                            </m:oMathPara>
                          </a14:m>
                          <a:endParaRPr lang="ar-AE" sz="2000" dirty="0">
                            <a:latin typeface="Aptos Display" panose="020B0004020202020204" pitchFamily="34" charset="0"/>
                          </a:endParaRPr>
                        </a:p>
                        <a:p>
                          <a:r>
                            <a:rPr lang="en-IN" sz="2000" dirty="0">
                              <a:latin typeface="Aptos Display" panose="020B0004020202020204" pitchFamily="34" charset="0"/>
                            </a:rPr>
                            <a:t>Where:</a:t>
                          </a:r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en-IN" sz="20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𝜎</m:t>
                              </m:r>
                            </m:oMath>
                          </a14:m>
                          <a:r>
                            <a:rPr lang="en-IN" sz="2000" dirty="0">
                              <a:latin typeface="Aptos Display" panose="020B0004020202020204" pitchFamily="34" charset="0"/>
                            </a:rPr>
                            <a:t>= noise standard deviation</a:t>
                          </a:r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en-IN" sz="20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𝑀</m:t>
                              </m:r>
                            </m:oMath>
                          </a14:m>
                          <a:r>
                            <a:rPr lang="en-IN" sz="2000" dirty="0">
                              <a:latin typeface="Aptos Display" panose="020B0004020202020204" pitchFamily="34" charset="0"/>
                            </a:rPr>
                            <a:t>= number of coefficients.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25059616"/>
                      </a:ext>
                    </a:extLst>
                  </a:tr>
                  <a:tr h="114486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b="1">
                              <a:latin typeface="Aptos Display" panose="020B0004020202020204" pitchFamily="34" charset="0"/>
                            </a:rPr>
                            <a:t>Heursure</a:t>
                          </a:r>
                          <a:endParaRPr lang="en-IN" sz="2000">
                            <a:latin typeface="Aptos Display" panose="020B0004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IN" sz="2000" dirty="0" err="1">
                              <a:latin typeface="Aptos Display" panose="020B0004020202020204" pitchFamily="34" charset="0"/>
                            </a:rPr>
                            <a:t>Rigrsure</a:t>
                          </a:r>
                          <a:r>
                            <a:rPr lang="en-IN" sz="2000" dirty="0">
                              <a:latin typeface="Aptos Display" panose="020B0004020202020204" pitchFamily="34" charset="0"/>
                            </a:rPr>
                            <a:t> + </a:t>
                          </a:r>
                          <a:r>
                            <a:rPr lang="en-IN" sz="2000" dirty="0" err="1">
                              <a:latin typeface="Aptos Display" panose="020B0004020202020204" pitchFamily="34" charset="0"/>
                            </a:rPr>
                            <a:t>Sqtwolog</a:t>
                          </a:r>
                          <a:r>
                            <a:rPr lang="en-IN" sz="2000" dirty="0">
                              <a:latin typeface="Aptos Display" panose="020B0004020202020204" pitchFamily="34" charset="0"/>
                            </a:rPr>
                            <a:t>.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2000" dirty="0">
                              <a:latin typeface="Aptos Display" panose="020B0004020202020204" pitchFamily="34" charset="0"/>
                            </a:rPr>
                            <a:t>If noise is small → use </a:t>
                          </a:r>
                          <a:r>
                            <a:rPr lang="en-US" sz="2000" dirty="0" err="1">
                              <a:latin typeface="Aptos Display" panose="020B0004020202020204" pitchFamily="34" charset="0"/>
                            </a:rPr>
                            <a:t>Rigrsure</a:t>
                          </a:r>
                          <a:endParaRPr lang="en-US" sz="2000" dirty="0">
                            <a:latin typeface="Aptos Display" panose="020B0004020202020204" pitchFamily="34" charset="0"/>
                          </a:endParaRP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2000" dirty="0">
                              <a:latin typeface="Aptos Display" panose="020B0004020202020204" pitchFamily="34" charset="0"/>
                            </a:rPr>
                            <a:t>If noise is large → use </a:t>
                          </a:r>
                          <a:r>
                            <a:rPr lang="en-US" sz="2000" dirty="0" err="1">
                              <a:latin typeface="Aptos Display" panose="020B0004020202020204" pitchFamily="34" charset="0"/>
                            </a:rPr>
                            <a:t>Sqtwolog</a:t>
                          </a:r>
                          <a:r>
                            <a:rPr lang="en-US" sz="2000" dirty="0">
                              <a:latin typeface="Aptos Display" panose="020B0004020202020204" pitchFamily="34" charset="0"/>
                            </a:rPr>
                            <a:t>.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endParaRPr lang="en-US" sz="2000" dirty="0">
                            <a:latin typeface="Aptos Display" panose="020B0004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53112630"/>
                      </a:ext>
                    </a:extLst>
                  </a:tr>
                  <a:tr h="36931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b="1">
                              <a:latin typeface="Aptos Display" panose="020B0004020202020204" pitchFamily="34" charset="0"/>
                            </a:rPr>
                            <a:t>Minimaxi</a:t>
                          </a:r>
                          <a:endParaRPr lang="en-IN" sz="2000">
                            <a:latin typeface="Aptos Display" panose="020B0004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>
                              <a:latin typeface="Aptos Display" panose="020B0004020202020204" pitchFamily="34" charset="0"/>
                            </a:rPr>
                            <a:t>Minimize the maximum mean square error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259818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8">
                <a:extLst>
                  <a:ext uri="{FF2B5EF4-FFF2-40B4-BE49-F238E27FC236}">
                    <a16:creationId xmlns:a16="http://schemas.microsoft.com/office/drawing/2014/main" id="{17C9135E-E07B-8842-51DA-189520A3A3BB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399463108"/>
                  </p:ext>
                </p:extLst>
              </p:nvPr>
            </p:nvGraphicFramePr>
            <p:xfrm>
              <a:off x="694308" y="1221787"/>
              <a:ext cx="10136252" cy="4835659"/>
            </p:xfrm>
            <a:graphic>
              <a:graphicData uri="http://schemas.openxmlformats.org/drawingml/2006/table">
                <a:tbl>
                  <a:tblPr/>
                  <a:tblGrid>
                    <a:gridCol w="2040409">
                      <a:extLst>
                        <a:ext uri="{9D8B030D-6E8A-4147-A177-3AD203B41FA5}">
                          <a16:colId xmlns:a16="http://schemas.microsoft.com/office/drawing/2014/main" val="548301215"/>
                        </a:ext>
                      </a:extLst>
                    </a:gridCol>
                    <a:gridCol w="8095843">
                      <a:extLst>
                        <a:ext uri="{9D8B030D-6E8A-4147-A177-3AD203B41FA5}">
                          <a16:colId xmlns:a16="http://schemas.microsoft.com/office/drawing/2014/main" val="2035718867"/>
                        </a:ext>
                      </a:extLst>
                    </a:gridCol>
                  </a:tblGrid>
                  <a:tr h="44317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dirty="0">
                              <a:latin typeface="Aptos Display" panose="020B0004020202020204" pitchFamily="34" charset="0"/>
                            </a:rPr>
                            <a:t>Rule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b="1" dirty="0">
                              <a:latin typeface="Aptos Display" panose="020B0004020202020204" pitchFamily="34" charset="0"/>
                            </a:rPr>
                            <a:t>Simple Meaning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38061677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b="1" dirty="0" err="1">
                              <a:latin typeface="Aptos Display" panose="020B0004020202020204" pitchFamily="34" charset="0"/>
                            </a:rPr>
                            <a:t>Rigrsure</a:t>
                          </a:r>
                          <a:endParaRPr lang="en-IN" sz="2000" dirty="0">
                            <a:latin typeface="Aptos Display" panose="020B0004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2000" dirty="0">
                              <a:latin typeface="Aptos Display" panose="020B0004020202020204" pitchFamily="34" charset="0"/>
                            </a:rPr>
                            <a:t>Estimates the error between denoised and true signal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2000" dirty="0">
                              <a:latin typeface="Aptos Display" panose="020B0004020202020204" pitchFamily="34" charset="0"/>
                            </a:rPr>
                            <a:t>Chooses threshold that minimizes this error.</a:t>
                          </a:r>
                        </a:p>
                        <a:p>
                          <a:pPr>
                            <a:buNone/>
                          </a:pPr>
                          <a:endParaRPr lang="en-US" sz="2000" dirty="0">
                            <a:latin typeface="Aptos Display" panose="020B0004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29740353"/>
                      </a:ext>
                    </a:extLst>
                  </a:tr>
                  <a:tr h="167976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b="1" dirty="0" err="1">
                              <a:latin typeface="Aptos Display" panose="020B0004020202020204" pitchFamily="34" charset="0"/>
                            </a:rPr>
                            <a:t>Sqtwolog</a:t>
                          </a:r>
                          <a:endParaRPr lang="en-IN" sz="2000" dirty="0">
                            <a:latin typeface="Aptos Display" panose="020B0004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5282" t="-86594" r="-150" b="-1079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5059616"/>
                      </a:ext>
                    </a:extLst>
                  </a:tr>
                  <a:tr h="13106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b="1">
                              <a:latin typeface="Aptos Display" panose="020B0004020202020204" pitchFamily="34" charset="0"/>
                            </a:rPr>
                            <a:t>Heursure</a:t>
                          </a:r>
                          <a:endParaRPr lang="en-IN" sz="2000">
                            <a:latin typeface="Aptos Display" panose="020B0004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IN" sz="2000" dirty="0" err="1">
                              <a:latin typeface="Aptos Display" panose="020B0004020202020204" pitchFamily="34" charset="0"/>
                            </a:rPr>
                            <a:t>Rigrsure</a:t>
                          </a:r>
                          <a:r>
                            <a:rPr lang="en-IN" sz="2000" dirty="0">
                              <a:latin typeface="Aptos Display" panose="020B0004020202020204" pitchFamily="34" charset="0"/>
                            </a:rPr>
                            <a:t> + </a:t>
                          </a:r>
                          <a:r>
                            <a:rPr lang="en-IN" sz="2000" dirty="0" err="1">
                              <a:latin typeface="Aptos Display" panose="020B0004020202020204" pitchFamily="34" charset="0"/>
                            </a:rPr>
                            <a:t>Sqtwolog</a:t>
                          </a:r>
                          <a:r>
                            <a:rPr lang="en-IN" sz="2000" dirty="0">
                              <a:latin typeface="Aptos Display" panose="020B0004020202020204" pitchFamily="34" charset="0"/>
                            </a:rPr>
                            <a:t>.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2000" dirty="0">
                              <a:latin typeface="Aptos Display" panose="020B0004020202020204" pitchFamily="34" charset="0"/>
                            </a:rPr>
                            <a:t>If noise is small → use </a:t>
                          </a:r>
                          <a:r>
                            <a:rPr lang="en-US" sz="2000" dirty="0" err="1">
                              <a:latin typeface="Aptos Display" panose="020B0004020202020204" pitchFamily="34" charset="0"/>
                            </a:rPr>
                            <a:t>Rigrsure</a:t>
                          </a:r>
                          <a:endParaRPr lang="en-US" sz="2000" dirty="0">
                            <a:latin typeface="Aptos Display" panose="020B0004020202020204" pitchFamily="34" charset="0"/>
                          </a:endParaRP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2000" dirty="0">
                              <a:latin typeface="Aptos Display" panose="020B0004020202020204" pitchFamily="34" charset="0"/>
                            </a:rPr>
                            <a:t>If noise is large → use </a:t>
                          </a:r>
                          <a:r>
                            <a:rPr lang="en-US" sz="2000" dirty="0" err="1">
                              <a:latin typeface="Aptos Display" panose="020B0004020202020204" pitchFamily="34" charset="0"/>
                            </a:rPr>
                            <a:t>Sqtwolog</a:t>
                          </a:r>
                          <a:r>
                            <a:rPr lang="en-US" sz="2000" dirty="0">
                              <a:latin typeface="Aptos Display" panose="020B0004020202020204" pitchFamily="34" charset="0"/>
                            </a:rPr>
                            <a:t>.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endParaRPr lang="en-US" sz="2000" dirty="0">
                            <a:latin typeface="Aptos Display" panose="020B0004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5311263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b="1">
                              <a:latin typeface="Aptos Display" panose="020B0004020202020204" pitchFamily="34" charset="0"/>
                            </a:rPr>
                            <a:t>Minimaxi</a:t>
                          </a:r>
                          <a:endParaRPr lang="en-IN" sz="2000">
                            <a:latin typeface="Aptos Display" panose="020B0004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>
                              <a:latin typeface="Aptos Display" panose="020B0004020202020204" pitchFamily="34" charset="0"/>
                            </a:rPr>
                            <a:t>Minimize the maximum mean square error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2598187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671129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FB74F7-A6BA-3E08-763E-C67A466155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089A85-C655-1C0C-C627-058E976D6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057" y="680385"/>
            <a:ext cx="3297714" cy="544283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5F3A5BE-258D-CFA0-EECC-C6794612E3E3}"/>
              </a:ext>
            </a:extLst>
          </p:cNvPr>
          <p:cNvCxnSpPr>
            <a:cxnSpLocks/>
            <a:stCxn id="7" idx="3"/>
            <a:endCxn id="12" idx="1"/>
          </p:cNvCxnSpPr>
          <p:nvPr/>
        </p:nvCxnSpPr>
        <p:spPr>
          <a:xfrm flipV="1">
            <a:off x="4244771" y="3368934"/>
            <a:ext cx="3653509" cy="32866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71A39733-0ECC-415E-2A57-C4CFF0B69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8280" y="614652"/>
            <a:ext cx="3516513" cy="550856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EBD3401-AFBA-C324-F2F0-1A173D77B7D0}"/>
              </a:ext>
            </a:extLst>
          </p:cNvPr>
          <p:cNvSpPr txBox="1"/>
          <p:nvPr/>
        </p:nvSpPr>
        <p:spPr>
          <a:xfrm>
            <a:off x="212271" y="163286"/>
            <a:ext cx="2098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db1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10796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7618B-1A98-59DC-15C8-39C288EEB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402D9B-09BC-2A75-0458-02B3B11EDC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15</a:t>
            </a:fld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6FF462B-5250-303D-6765-542E067565D0}"/>
              </a:ext>
            </a:extLst>
          </p:cNvPr>
          <p:cNvCxnSpPr>
            <a:cxnSpLocks/>
          </p:cNvCxnSpPr>
          <p:nvPr/>
        </p:nvCxnSpPr>
        <p:spPr>
          <a:xfrm flipV="1">
            <a:off x="4293721" y="3368934"/>
            <a:ext cx="3604559" cy="32866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4BDB3373-4CB0-DE64-7916-26DAFD700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603" y="614652"/>
            <a:ext cx="3391725" cy="55050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7AA7C3-8CF3-1E49-F8E0-2D41D6FBD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4674" y="437287"/>
            <a:ext cx="3621527" cy="568239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8FD6BCD-319E-04B8-AFA2-77C39926D508}"/>
              </a:ext>
            </a:extLst>
          </p:cNvPr>
          <p:cNvSpPr txBox="1"/>
          <p:nvPr/>
        </p:nvSpPr>
        <p:spPr>
          <a:xfrm>
            <a:off x="212271" y="163286"/>
            <a:ext cx="2098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sym4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60832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1382AF-3335-A669-C216-5B0DF6560D1B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72004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800" dirty="0">
                    <a:latin typeface="Arial Black" panose="020B0A04020102020204" pitchFamily="34" charset="0"/>
                  </a:rPr>
                  <a:t>Velocity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d>
                        <m:d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d>
                            <m:dPr>
                              <m:ctrlP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d>
                            <m:dPr>
                              <m:ctrlP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d>
                        <m:d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acc>
                          <m:d>
                            <m:dPr>
                              <m:ctrlP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d>
                            <m:dPr>
                              <m:ctrlP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IN" sz="2800" b="0" dirty="0">
                  <a:latin typeface="Arial Black" panose="020B0A04020102020204" pitchFamily="34" charset="0"/>
                </a:endParaRPr>
              </a:p>
              <a:p>
                <a:endParaRPr lang="en-IN" sz="2800" b="0" dirty="0">
                  <a:latin typeface="Arial Black" panose="020B0A04020102020204" pitchFamily="34" charset="0"/>
                </a:endParaRPr>
              </a:p>
              <a:p>
                <a:endParaRPr lang="en-IN" sz="2800" dirty="0">
                  <a:latin typeface="Arial Black" panose="020B0A04020102020204" pitchFamily="34" charset="0"/>
                </a:endParaRPr>
              </a:p>
              <a:p>
                <a:endParaRPr lang="en-IN" sz="2800" dirty="0">
                  <a:latin typeface="Arial Black" panose="020B0A04020102020204" pitchFamily="34" charset="0"/>
                </a:endParaRPr>
              </a:p>
              <a:p>
                <a:endParaRPr lang="en-US" sz="2800" dirty="0">
                  <a:latin typeface="Aptos Display" panose="020B0004020202020204" pitchFamily="34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Aptos Display" panose="020B0004020202020204" pitchFamily="34" charset="0"/>
                  </a:rPr>
                  <a:t>c1 and c2 are two acceleration constants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sz="2800" dirty="0">
                  <a:latin typeface="Aptos Display" panose="020B0004020202020204" pitchFamily="34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IN" sz="2800" dirty="0">
                    <a:latin typeface="Aptos Display" panose="020B0004020202020204" pitchFamily="34" charset="0"/>
                  </a:rPr>
                  <a:t>w is inertia weight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sz="2800" dirty="0">
                  <a:latin typeface="Aptos Display" panose="020B0004020202020204" pitchFamily="34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Aptos Display" panose="020B0004020202020204" pitchFamily="34" charset="0"/>
                  </a:rPr>
                  <a:t>r1 and r2 generate a uniformly distributed random number between 0 and 1</a:t>
                </a:r>
              </a:p>
              <a:p>
                <a:endParaRPr lang="en-IN" sz="2800" dirty="0">
                  <a:latin typeface="Aptos Display" panose="020B0004020202020204" pitchFamily="34" charset="0"/>
                </a:endParaRPr>
              </a:p>
              <a:p>
                <a:r>
                  <a:rPr lang="en-IN" sz="2800" dirty="0">
                    <a:latin typeface="Arial Black" panose="020B0A04020102020204" pitchFamily="34" charset="0"/>
                  </a:rPr>
                  <a:t>Position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IN" sz="2800" b="0" dirty="0">
                  <a:latin typeface="Arial Black" panose="020B0A04020102020204" pitchFamily="34" charset="0"/>
                </a:endParaRPr>
              </a:p>
              <a:p>
                <a:endParaRPr lang="en-IN" sz="2800" dirty="0">
                  <a:latin typeface="Arial Black" panose="020B0A04020102020204" pitchFamily="34" charset="0"/>
                </a:endParaRPr>
              </a:p>
              <a:p>
                <a:endParaRPr lang="en-IN" sz="2800" dirty="0"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1382AF-3335-A669-C216-5B0DF6560D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7200497"/>
              </a:xfrm>
              <a:prstGeom prst="rect">
                <a:avLst/>
              </a:prstGeom>
              <a:blipFill>
                <a:blip r:embed="rId3"/>
                <a:stretch>
                  <a:fillRect l="-1000" t="-8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2E582FE-06A2-09FF-4B9F-EEBC136FFC2D}"/>
                  </a:ext>
                </a:extLst>
              </p:cNvPr>
              <p:cNvSpPr txBox="1"/>
              <p:nvPr/>
            </p:nvSpPr>
            <p:spPr>
              <a:xfrm>
                <a:off x="223520" y="2221186"/>
                <a:ext cx="3535680" cy="5068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acc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IN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r>
                  <a:rPr lang="en-IN" dirty="0"/>
                  <a:t>    </a:t>
                </a:r>
                <a:r>
                  <a:rPr lang="en-IN" dirty="0">
                    <a:sym typeface="Wingdings" panose="05000000000000000000" pitchFamily="2" charset="2"/>
                  </a:rPr>
                  <a:t> </a:t>
                </a:r>
                <a:r>
                  <a:rPr lang="en-IN" dirty="0">
                    <a:latin typeface="Aptos Display" panose="020B0004020202020204" pitchFamily="34" charset="0"/>
                    <a:sym typeface="Wingdings" panose="05000000000000000000" pitchFamily="2" charset="2"/>
                  </a:rPr>
                  <a:t>Global Best</a:t>
                </a:r>
                <a:endParaRPr lang="en-IN" dirty="0">
                  <a:latin typeface="Aptos Display" panose="020B000402020202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2E582FE-06A2-09FF-4B9F-EEBC136FF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20" y="2221186"/>
                <a:ext cx="3535680" cy="506870"/>
              </a:xfrm>
              <a:prstGeom prst="rect">
                <a:avLst/>
              </a:prstGeom>
              <a:blipFill>
                <a:blip r:embed="rId4"/>
                <a:stretch>
                  <a:fillRect b="-59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0B1EB87-05A7-BB0E-9555-2ABD10B64570}"/>
                  </a:ext>
                </a:extLst>
              </p:cNvPr>
              <p:cNvSpPr txBox="1"/>
              <p:nvPr/>
            </p:nvSpPr>
            <p:spPr>
              <a:xfrm>
                <a:off x="223520" y="1530306"/>
                <a:ext cx="3423920" cy="5068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IN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1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1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sz="18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d>
                          <m:dPr>
                            <m:ctrlPr>
                              <a:rPr lang="en-IN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1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1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sz="18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d>
                          <m:dPr>
                            <m:ctrlPr>
                              <a:rPr lang="en-IN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r>
                  <a:rPr lang="en-IN" dirty="0"/>
                  <a:t>  </a:t>
                </a:r>
                <a:r>
                  <a:rPr lang="en-IN" dirty="0">
                    <a:sym typeface="Wingdings" panose="05000000000000000000" pitchFamily="2" charset="2"/>
                  </a:rPr>
                  <a:t> </a:t>
                </a:r>
                <a:r>
                  <a:rPr lang="en-IN" dirty="0">
                    <a:latin typeface="Aptos Display" panose="020B0004020202020204" pitchFamily="34" charset="0"/>
                    <a:sym typeface="Wingdings" panose="05000000000000000000" pitchFamily="2" charset="2"/>
                  </a:rPr>
                  <a:t>Local Best</a:t>
                </a:r>
                <a:endParaRPr lang="en-IN" dirty="0">
                  <a:latin typeface="Aptos Display" panose="020B000402020202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0B1EB87-05A7-BB0E-9555-2ABD10B645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20" y="1530306"/>
                <a:ext cx="3423920" cy="506870"/>
              </a:xfrm>
              <a:prstGeom prst="rect">
                <a:avLst/>
              </a:prstGeom>
              <a:blipFill>
                <a:blip r:embed="rId5"/>
                <a:stretch>
                  <a:fillRect b="-72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99098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3D3366-75A9-A988-8DFE-8C80DD21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B2D61B8-9B29-8DDC-E4D1-725CBD1B4824}"/>
                  </a:ext>
                </a:extLst>
              </p:cNvPr>
              <p:cNvSpPr txBox="1"/>
              <p:nvPr/>
            </p:nvSpPr>
            <p:spPr>
              <a:xfrm>
                <a:off x="0" y="314960"/>
                <a:ext cx="12192000" cy="25024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𝑆𝑁𝑅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𝑖𝑚𝑝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𝑆𝑁𝑅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𝑜𝑢𝑡𝑝𝑢𝑡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𝑆𝑁𝑅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𝑖𝑛𝑝𝑢𝑡</m:t>
                          </m:r>
                        </m:sub>
                      </m:sSub>
                    </m:oMath>
                  </m:oMathPara>
                </a14:m>
                <a:endParaRPr lang="en-IN" b="0" dirty="0"/>
              </a:p>
              <a:p>
                <a:endParaRPr lang="en-IN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𝑆𝑁𝑅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𝑖𝑛𝑝𝑢𝑡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10</m:t>
                      </m:r>
                      <m:func>
                        <m:func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)]</m:t>
                                  </m:r>
                                </m:e>
                                <m:sup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</m:e>
                      </m:func>
                      <m:nary>
                        <m:naryPr>
                          <m:chr m:val="∑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̃"/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acc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)]</m:t>
                              </m:r>
                            </m:e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IN" dirty="0"/>
              </a:p>
              <a:p>
                <a:endParaRPr lang="en-I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𝑆𝑁𝑅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𝑜𝑢𝑡𝑝𝑢𝑡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10</m:t>
                      </m:r>
                      <m:func>
                        <m:func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)]</m:t>
                                  </m:r>
                                </m:e>
                                <m:sup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/</m:t>
                          </m:r>
                        </m:e>
                      </m:func>
                      <m:nary>
                        <m:naryPr>
                          <m:chr m:val="∑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I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acc>
                              <m:r>
                                <a:rPr lang="en-IN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)]</m:t>
                              </m:r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B2D61B8-9B29-8DDC-E4D1-725CBD1B48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14960"/>
                <a:ext cx="12192000" cy="25024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5CF254C-B7D0-F0C3-1081-B66DBE411CD0}"/>
                  </a:ext>
                </a:extLst>
              </p:cNvPr>
              <p:cNvSpPr txBox="1"/>
              <p:nvPr/>
            </p:nvSpPr>
            <p:spPr>
              <a:xfrm>
                <a:off x="0" y="3429000"/>
                <a:ext cx="9151620" cy="14924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b="0" i="1" dirty="0">
                    <a:latin typeface="Cambria Math" panose="02040503050406030204" pitchFamily="18" charset="0"/>
                  </a:rPr>
                  <a:t>S(n)</a:t>
                </a:r>
                <a:r>
                  <a:rPr lang="en-IN" b="0" i="1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</a:t>
                </a:r>
                <a:r>
                  <a:rPr lang="en-IN" b="0" i="1" dirty="0">
                    <a:latin typeface="Aptos Display" panose="020B0004020202020204" pitchFamily="34" charset="0"/>
                    <a:sym typeface="Wingdings" panose="05000000000000000000" pitchFamily="2" charset="2"/>
                  </a:rPr>
                  <a:t>Original Signal</a:t>
                </a:r>
              </a:p>
              <a:p>
                <a:endParaRPr lang="en-IN" b="0" i="1" dirty="0">
                  <a:latin typeface="Aptos Display" panose="020B0004020202020204" pitchFamily="34" charset="0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acc>
                    <m:r>
                      <a:rPr lang="en-I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>
                    <a:sym typeface="Wingdings" panose="05000000000000000000" pitchFamily="2" charset="2"/>
                  </a:rPr>
                  <a:t></a:t>
                </a:r>
                <a:r>
                  <a:rPr lang="en-US" dirty="0"/>
                  <a:t> </a:t>
                </a:r>
                <a:r>
                  <a:rPr lang="en-US" dirty="0">
                    <a:latin typeface="Aptos Display" panose="020B0004020202020204" pitchFamily="34" charset="0"/>
                  </a:rPr>
                  <a:t>is the noisy ECG signal</a:t>
                </a:r>
              </a:p>
              <a:p>
                <a:endParaRPr lang="en-US" dirty="0">
                  <a:latin typeface="Aptos Display" panose="020B0004020202020204" pitchFamily="34" charset="0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acc>
                    <m:r>
                      <a:rPr lang="en-I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>
                    <a:sym typeface="Wingdings" panose="05000000000000000000" pitchFamily="2" charset="2"/>
                  </a:rPr>
                  <a:t></a:t>
                </a:r>
                <a:r>
                  <a:rPr lang="en-US" dirty="0"/>
                  <a:t> </a:t>
                </a:r>
                <a:r>
                  <a:rPr lang="en-US" dirty="0">
                    <a:latin typeface="Aptos Display" panose="020B0004020202020204" pitchFamily="34" charset="0"/>
                  </a:rPr>
                  <a:t>is the denoised ECG signal</a:t>
                </a:r>
                <a:endParaRPr lang="en-IN" dirty="0">
                  <a:latin typeface="Aptos Display" panose="020B00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5CF254C-B7D0-F0C3-1081-B66DBE411C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429000"/>
                <a:ext cx="9151620" cy="1492460"/>
              </a:xfrm>
              <a:prstGeom prst="rect">
                <a:avLst/>
              </a:prstGeom>
              <a:blipFill>
                <a:blip r:embed="rId3"/>
                <a:stretch>
                  <a:fillRect l="-533" t="-3279" b="-61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A642D1B-03E2-5E4F-C3C3-377D22B9B884}"/>
              </a:ext>
            </a:extLst>
          </p:cNvPr>
          <p:cNvSpPr txBox="1"/>
          <p:nvPr/>
        </p:nvSpPr>
        <p:spPr>
          <a:xfrm>
            <a:off x="0" y="0"/>
            <a:ext cx="183896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dirty="0">
                <a:latin typeface="Arial Black" panose="020B0A04020102020204" pitchFamily="34" charset="0"/>
              </a:rPr>
              <a:t>Fitness:</a:t>
            </a:r>
          </a:p>
        </p:txBody>
      </p:sp>
    </p:spTree>
    <p:extLst>
      <p:ext uri="{BB962C8B-B14F-4D97-AF65-F5344CB8AC3E}">
        <p14:creationId xmlns:p14="http://schemas.microsoft.com/office/powerpoint/2010/main" val="12553837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B75DFB-68E6-4FCA-303F-E636418F2D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E3CE8E-F38F-F466-21F4-32A219D00098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 Black" panose="020B0A04020102020204" pitchFamily="34" charset="0"/>
              </a:rPr>
              <a:t>Toy Example:</a:t>
            </a:r>
            <a:endParaRPr lang="en-IN" sz="3200" dirty="0">
              <a:latin typeface="Arial Black" panose="020B0A040201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A5C6C8A-82B3-AD6A-A3F7-9F87ED22DA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445162"/>
              </p:ext>
            </p:extLst>
          </p:nvPr>
        </p:nvGraphicFramePr>
        <p:xfrm>
          <a:off x="0" y="789140"/>
          <a:ext cx="6096000" cy="2666979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44531423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927667404"/>
                    </a:ext>
                  </a:extLst>
                </a:gridCol>
              </a:tblGrid>
              <a:tr h="380997">
                <a:tc>
                  <a:txBody>
                    <a:bodyPr/>
                    <a:lstStyle/>
                    <a:p>
                      <a:r>
                        <a:rPr lang="en-US" dirty="0"/>
                        <a:t>Index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Wavelet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4584452"/>
                  </a:ext>
                </a:extLst>
              </a:tr>
              <a:tr h="380997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coif1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499090"/>
                  </a:ext>
                </a:extLst>
              </a:tr>
              <a:tr h="380997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coif3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2096444"/>
                  </a:ext>
                </a:extLst>
              </a:tr>
              <a:tr h="380997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sym3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19313"/>
                  </a:ext>
                </a:extLst>
              </a:tr>
              <a:tr h="38099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sym5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851604"/>
                  </a:ext>
                </a:extLst>
              </a:tr>
              <a:tr h="380997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db4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853730"/>
                  </a:ext>
                </a:extLst>
              </a:tr>
              <a:tr h="380997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db6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157964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324D207-9EAF-DC24-FB2B-4A30999D13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0738178"/>
              </p:ext>
            </p:extLst>
          </p:nvPr>
        </p:nvGraphicFramePr>
        <p:xfrm>
          <a:off x="0" y="4101693"/>
          <a:ext cx="6096000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74480296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3235194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Index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Threshold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736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soft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02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21116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67C92B-9248-62B4-9E95-70EEB92F08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980920"/>
              </p:ext>
            </p:extLst>
          </p:nvPr>
        </p:nvGraphicFramePr>
        <p:xfrm>
          <a:off x="6475956" y="989556"/>
          <a:ext cx="5539260" cy="193680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769630">
                  <a:extLst>
                    <a:ext uri="{9D8B030D-6E8A-4147-A177-3AD203B41FA5}">
                      <a16:colId xmlns:a16="http://schemas.microsoft.com/office/drawing/2014/main" val="2549040823"/>
                    </a:ext>
                  </a:extLst>
                </a:gridCol>
                <a:gridCol w="2769630">
                  <a:extLst>
                    <a:ext uri="{9D8B030D-6E8A-4147-A177-3AD203B41FA5}">
                      <a16:colId xmlns:a16="http://schemas.microsoft.com/office/drawing/2014/main" val="3786739667"/>
                    </a:ext>
                  </a:extLst>
                </a:gridCol>
              </a:tblGrid>
              <a:tr h="383104">
                <a:tc>
                  <a:txBody>
                    <a:bodyPr/>
                    <a:lstStyle/>
                    <a:p>
                      <a:r>
                        <a:rPr lang="en-US" dirty="0"/>
                        <a:t>Index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Threshold rule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778584"/>
                  </a:ext>
                </a:extLst>
              </a:tr>
              <a:tr h="388425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Rigsure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771983"/>
                  </a:ext>
                </a:extLst>
              </a:tr>
              <a:tr h="388425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Sqtwolog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7575274"/>
                  </a:ext>
                </a:extLst>
              </a:tr>
              <a:tr h="388425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Heursure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886450"/>
                  </a:ext>
                </a:extLst>
              </a:tr>
              <a:tr h="388425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minimaxi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2556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2D86C34-9D3E-BF70-0CAE-A9E0B5451C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279127"/>
              </p:ext>
            </p:extLst>
          </p:nvPr>
        </p:nvGraphicFramePr>
        <p:xfrm>
          <a:off x="6475956" y="3730853"/>
          <a:ext cx="5539260" cy="14833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769630">
                  <a:extLst>
                    <a:ext uri="{9D8B030D-6E8A-4147-A177-3AD203B41FA5}">
                      <a16:colId xmlns:a16="http://schemas.microsoft.com/office/drawing/2014/main" val="3856790383"/>
                    </a:ext>
                  </a:extLst>
                </a:gridCol>
                <a:gridCol w="2769630">
                  <a:extLst>
                    <a:ext uri="{9D8B030D-6E8A-4147-A177-3AD203B41FA5}">
                      <a16:colId xmlns:a16="http://schemas.microsoft.com/office/drawing/2014/main" val="33934506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Index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Rescaling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7404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9819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sln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529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mln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6346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27330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900926-3DAA-498F-B231-000F776B1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D5C8BF14-65FC-A71E-04A2-0FF545815C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2562540"/>
                  </p:ext>
                </p:extLst>
              </p:nvPr>
            </p:nvGraphicFramePr>
            <p:xfrm>
              <a:off x="0" y="0"/>
              <a:ext cx="3592953" cy="147828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033397">
                      <a:extLst>
                        <a:ext uri="{9D8B030D-6E8A-4147-A177-3AD203B41FA5}">
                          <a16:colId xmlns:a16="http://schemas.microsoft.com/office/drawing/2014/main" val="1076541041"/>
                        </a:ext>
                      </a:extLst>
                    </a:gridCol>
                    <a:gridCol w="394145">
                      <a:extLst>
                        <a:ext uri="{9D8B030D-6E8A-4147-A177-3AD203B41FA5}">
                          <a16:colId xmlns:a16="http://schemas.microsoft.com/office/drawing/2014/main" val="3178390953"/>
                        </a:ext>
                      </a:extLst>
                    </a:gridCol>
                    <a:gridCol w="360680">
                      <a:extLst>
                        <a:ext uri="{9D8B030D-6E8A-4147-A177-3AD203B41FA5}">
                          <a16:colId xmlns:a16="http://schemas.microsoft.com/office/drawing/2014/main" val="165031509"/>
                        </a:ext>
                      </a:extLst>
                    </a:gridCol>
                    <a:gridCol w="401955">
                      <a:extLst>
                        <a:ext uri="{9D8B030D-6E8A-4147-A177-3AD203B41FA5}">
                          <a16:colId xmlns:a16="http://schemas.microsoft.com/office/drawing/2014/main" val="3124944873"/>
                        </a:ext>
                      </a:extLst>
                    </a:gridCol>
                    <a:gridCol w="369379">
                      <a:extLst>
                        <a:ext uri="{9D8B030D-6E8A-4147-A177-3AD203B41FA5}">
                          <a16:colId xmlns:a16="http://schemas.microsoft.com/office/drawing/2014/main" val="2106999030"/>
                        </a:ext>
                      </a:extLst>
                    </a:gridCol>
                    <a:gridCol w="1033397">
                      <a:extLst>
                        <a:ext uri="{9D8B030D-6E8A-4147-A177-3AD203B41FA5}">
                          <a16:colId xmlns:a16="http://schemas.microsoft.com/office/drawing/2014/main" val="2175719103"/>
                        </a:ext>
                      </a:extLst>
                    </a:gridCol>
                  </a:tblGrid>
                  <a:tr h="326418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Particle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𝜷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𝝆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632206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P1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78161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P2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40409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P3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251628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D5C8BF14-65FC-A71E-04A2-0FF545815C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2562540"/>
                  </p:ext>
                </p:extLst>
              </p:nvPr>
            </p:nvGraphicFramePr>
            <p:xfrm>
              <a:off x="0" y="0"/>
              <a:ext cx="3592953" cy="147828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033397">
                      <a:extLst>
                        <a:ext uri="{9D8B030D-6E8A-4147-A177-3AD203B41FA5}">
                          <a16:colId xmlns:a16="http://schemas.microsoft.com/office/drawing/2014/main" val="1076541041"/>
                        </a:ext>
                      </a:extLst>
                    </a:gridCol>
                    <a:gridCol w="394145">
                      <a:extLst>
                        <a:ext uri="{9D8B030D-6E8A-4147-A177-3AD203B41FA5}">
                          <a16:colId xmlns:a16="http://schemas.microsoft.com/office/drawing/2014/main" val="3178390953"/>
                        </a:ext>
                      </a:extLst>
                    </a:gridCol>
                    <a:gridCol w="360680">
                      <a:extLst>
                        <a:ext uri="{9D8B030D-6E8A-4147-A177-3AD203B41FA5}">
                          <a16:colId xmlns:a16="http://schemas.microsoft.com/office/drawing/2014/main" val="165031509"/>
                        </a:ext>
                      </a:extLst>
                    </a:gridCol>
                    <a:gridCol w="401955">
                      <a:extLst>
                        <a:ext uri="{9D8B030D-6E8A-4147-A177-3AD203B41FA5}">
                          <a16:colId xmlns:a16="http://schemas.microsoft.com/office/drawing/2014/main" val="3124944873"/>
                        </a:ext>
                      </a:extLst>
                    </a:gridCol>
                    <a:gridCol w="369379">
                      <a:extLst>
                        <a:ext uri="{9D8B030D-6E8A-4147-A177-3AD203B41FA5}">
                          <a16:colId xmlns:a16="http://schemas.microsoft.com/office/drawing/2014/main" val="2106999030"/>
                        </a:ext>
                      </a:extLst>
                    </a:gridCol>
                    <a:gridCol w="1033397">
                      <a:extLst>
                        <a:ext uri="{9D8B030D-6E8A-4147-A177-3AD203B41FA5}">
                          <a16:colId xmlns:a16="http://schemas.microsoft.com/office/drawing/2014/main" val="2175719103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Particle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7188" t="-10000" r="-557813" b="-3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46970" t="-10000" r="-350000" b="-3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01667" t="-10000" r="-285000" b="-3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47647" t="-10000" r="-588" b="-33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32206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P1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78161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P2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40409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P3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251628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84ED36A-3874-9E8A-6B85-FF7F7989C7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080859"/>
              </p:ext>
            </p:extLst>
          </p:nvPr>
        </p:nvGraphicFramePr>
        <p:xfrm>
          <a:off x="0" y="2272893"/>
          <a:ext cx="3592952" cy="14833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65753">
                  <a:extLst>
                    <a:ext uri="{9D8B030D-6E8A-4147-A177-3AD203B41FA5}">
                      <a16:colId xmlns:a16="http://schemas.microsoft.com/office/drawing/2014/main" val="2842480530"/>
                    </a:ext>
                  </a:extLst>
                </a:gridCol>
                <a:gridCol w="2027199">
                  <a:extLst>
                    <a:ext uri="{9D8B030D-6E8A-4147-A177-3AD203B41FA5}">
                      <a16:colId xmlns:a16="http://schemas.microsoft.com/office/drawing/2014/main" val="3547475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Particle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Velocity.L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5124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3283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7217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938537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E362A64-AB4C-76E4-2281-D166743327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2170120"/>
              </p:ext>
            </p:extLst>
          </p:nvPr>
        </p:nvGraphicFramePr>
        <p:xfrm>
          <a:off x="0" y="4396444"/>
          <a:ext cx="3741338" cy="14833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465545">
                  <a:extLst>
                    <a:ext uri="{9D8B030D-6E8A-4147-A177-3AD203B41FA5}">
                      <a16:colId xmlns:a16="http://schemas.microsoft.com/office/drawing/2014/main" val="2842480530"/>
                    </a:ext>
                  </a:extLst>
                </a:gridCol>
                <a:gridCol w="2275793">
                  <a:extLst>
                    <a:ext uri="{9D8B030D-6E8A-4147-A177-3AD203B41FA5}">
                      <a16:colId xmlns:a16="http://schemas.microsoft.com/office/drawing/2014/main" val="3547475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Particle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Fitness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5124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3283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7217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938537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DAFAFC9-669F-AC33-BF8C-B82A469D8E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5318405"/>
              </p:ext>
            </p:extLst>
          </p:nvPr>
        </p:nvGraphicFramePr>
        <p:xfrm>
          <a:off x="5212915" y="0"/>
          <a:ext cx="3741338" cy="14833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465545">
                  <a:extLst>
                    <a:ext uri="{9D8B030D-6E8A-4147-A177-3AD203B41FA5}">
                      <a16:colId xmlns:a16="http://schemas.microsoft.com/office/drawing/2014/main" val="2842480530"/>
                    </a:ext>
                  </a:extLst>
                </a:gridCol>
                <a:gridCol w="2275793">
                  <a:extLst>
                    <a:ext uri="{9D8B030D-6E8A-4147-A177-3AD203B41FA5}">
                      <a16:colId xmlns:a16="http://schemas.microsoft.com/office/drawing/2014/main" val="3547475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Particle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Pbest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5124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[3,4,1,2,2]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3283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[5,6,1,1,2]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7217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[2,3,2,3,1]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938537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D77541B-F708-2933-4CF1-4D46E844B5F1}"/>
              </a:ext>
            </a:extLst>
          </p:cNvPr>
          <p:cNvSpPr txBox="1"/>
          <p:nvPr/>
        </p:nvSpPr>
        <p:spPr>
          <a:xfrm>
            <a:off x="5212915" y="2029216"/>
            <a:ext cx="37413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Aptos Display" panose="020B0004020202020204" pitchFamily="34" charset="0"/>
              </a:rPr>
              <a:t>gbest</a:t>
            </a:r>
            <a:r>
              <a:rPr lang="en-US" sz="2000" dirty="0">
                <a:latin typeface="Aptos Display" panose="020B0004020202020204" pitchFamily="34" charset="0"/>
              </a:rPr>
              <a:t>=P2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Because of High Fitness </a:t>
            </a:r>
            <a:endParaRPr lang="en-IN" sz="2000" dirty="0">
              <a:latin typeface="Aptos Display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05326B-540A-B65D-8684-848208E7FFD0}"/>
              </a:ext>
            </a:extLst>
          </p:cNvPr>
          <p:cNvSpPr txBox="1"/>
          <p:nvPr/>
        </p:nvSpPr>
        <p:spPr>
          <a:xfrm>
            <a:off x="5212915" y="2643571"/>
            <a:ext cx="374133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w=0.7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c1=2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c2=2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r1=0.4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r2=0.6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Aptos Display" panose="020B0004020202020204" pitchFamily="34" charset="0"/>
            </a:endParaRPr>
          </a:p>
          <a:p>
            <a:endParaRPr lang="en-IN" sz="2000" dirty="0">
              <a:latin typeface="Aptos Display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7F53CF-587B-4FC1-AD46-C580B303E097}"/>
              </a:ext>
            </a:extLst>
          </p:cNvPr>
          <p:cNvSpPr txBox="1"/>
          <p:nvPr/>
        </p:nvSpPr>
        <p:spPr>
          <a:xfrm>
            <a:off x="4910203" y="4408778"/>
            <a:ext cx="750309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ptos Display" panose="020B0004020202020204" pitchFamily="34" charset="0"/>
              </a:rPr>
              <a:t>Velocity =</a:t>
            </a:r>
            <a:r>
              <a:rPr lang="fr-FR" sz="2000" dirty="0">
                <a:latin typeface="Aptos Display" panose="020B0004020202020204" pitchFamily="34" charset="0"/>
              </a:rPr>
              <a:t>w*velocity+C1*r1*(</a:t>
            </a:r>
            <a:r>
              <a:rPr lang="fr-FR" sz="2000" dirty="0" err="1">
                <a:latin typeface="Aptos Display" panose="020B0004020202020204" pitchFamily="34" charset="0"/>
              </a:rPr>
              <a:t>pbest</a:t>
            </a:r>
            <a:r>
              <a:rPr lang="fr-FR" sz="2000" dirty="0">
                <a:latin typeface="Aptos Display" panose="020B0004020202020204" pitchFamily="34" charset="0"/>
              </a:rPr>
              <a:t> – </a:t>
            </a:r>
            <a:r>
              <a:rPr lang="fr-FR" sz="2000" dirty="0" err="1">
                <a:latin typeface="Aptos Display" panose="020B0004020202020204" pitchFamily="34" charset="0"/>
              </a:rPr>
              <a:t>particle</a:t>
            </a:r>
            <a:r>
              <a:rPr lang="fr-FR" sz="2000" dirty="0">
                <a:latin typeface="Aptos Display" panose="020B0004020202020204" pitchFamily="34" charset="0"/>
              </a:rPr>
              <a:t>)+C2*r2*(</a:t>
            </a:r>
            <a:r>
              <a:rPr lang="fr-FR" sz="2000" dirty="0" err="1">
                <a:latin typeface="Aptos Display" panose="020B0004020202020204" pitchFamily="34" charset="0"/>
              </a:rPr>
              <a:t>gbest</a:t>
            </a:r>
            <a:r>
              <a:rPr lang="fr-FR" sz="2000" dirty="0">
                <a:latin typeface="Aptos Display" panose="020B0004020202020204" pitchFamily="34" charset="0"/>
              </a:rPr>
              <a:t> - </a:t>
            </a:r>
            <a:r>
              <a:rPr lang="fr-FR" sz="2000" dirty="0" err="1">
                <a:latin typeface="Aptos Display" panose="020B0004020202020204" pitchFamily="34" charset="0"/>
              </a:rPr>
              <a:t>particle</a:t>
            </a:r>
            <a:r>
              <a:rPr lang="fr-FR" sz="2000" dirty="0">
                <a:latin typeface="Aptos Display" panose="020B0004020202020204" pitchFamily="34" charset="0"/>
              </a:rPr>
              <a:t>)</a:t>
            </a:r>
          </a:p>
          <a:p>
            <a:endParaRPr lang="en-IN" sz="2000" dirty="0">
              <a:latin typeface="Aptos Display" panose="020B0004020202020204" pitchFamily="34" charset="0"/>
            </a:endParaRPr>
          </a:p>
          <a:p>
            <a:r>
              <a:rPr lang="en-IN" sz="2000" dirty="0">
                <a:latin typeface="Aptos Display" panose="020B0004020202020204" pitchFamily="34" charset="0"/>
              </a:rPr>
              <a:t>W*velocity=0.7*0=0</a:t>
            </a:r>
          </a:p>
          <a:p>
            <a:r>
              <a:rPr lang="fr-FR" sz="2000" dirty="0">
                <a:latin typeface="Aptos Display" panose="020B0004020202020204" pitchFamily="34" charset="0"/>
              </a:rPr>
              <a:t>c1*r1*(</a:t>
            </a:r>
            <a:r>
              <a:rPr lang="fr-FR" sz="2000" dirty="0" err="1">
                <a:latin typeface="Aptos Display" panose="020B0004020202020204" pitchFamily="34" charset="0"/>
              </a:rPr>
              <a:t>pbest</a:t>
            </a:r>
            <a:r>
              <a:rPr lang="fr-FR" sz="2000" dirty="0">
                <a:latin typeface="Aptos Display" panose="020B0004020202020204" pitchFamily="34" charset="0"/>
              </a:rPr>
              <a:t> – </a:t>
            </a:r>
            <a:r>
              <a:rPr lang="fr-FR" sz="2000" dirty="0" err="1">
                <a:latin typeface="Aptos Display" panose="020B0004020202020204" pitchFamily="34" charset="0"/>
              </a:rPr>
              <a:t>particle</a:t>
            </a:r>
            <a:r>
              <a:rPr lang="fr-FR" sz="2000" dirty="0">
                <a:latin typeface="Aptos Display" panose="020B0004020202020204" pitchFamily="34" charset="0"/>
              </a:rPr>
              <a:t>)=2*0.4*(4-4)=0</a:t>
            </a:r>
          </a:p>
          <a:p>
            <a:r>
              <a:rPr lang="fr-FR" sz="2000" dirty="0">
                <a:latin typeface="Aptos Display" panose="020B0004020202020204" pitchFamily="34" charset="0"/>
              </a:rPr>
              <a:t>c2*r2*(</a:t>
            </a:r>
            <a:r>
              <a:rPr lang="fr-FR" sz="2000" dirty="0" err="1">
                <a:latin typeface="Aptos Display" panose="020B0004020202020204" pitchFamily="34" charset="0"/>
              </a:rPr>
              <a:t>gbest</a:t>
            </a:r>
            <a:r>
              <a:rPr lang="fr-FR" sz="2000" dirty="0">
                <a:latin typeface="Aptos Display" panose="020B0004020202020204" pitchFamily="34" charset="0"/>
              </a:rPr>
              <a:t> - </a:t>
            </a:r>
            <a:r>
              <a:rPr lang="fr-FR" sz="2000" dirty="0" err="1">
                <a:latin typeface="Aptos Display" panose="020B0004020202020204" pitchFamily="34" charset="0"/>
              </a:rPr>
              <a:t>particle</a:t>
            </a:r>
            <a:r>
              <a:rPr lang="fr-FR" sz="2000" dirty="0">
                <a:latin typeface="Aptos Display" panose="020B0004020202020204" pitchFamily="34" charset="0"/>
              </a:rPr>
              <a:t>)=2*0.6*(6-4)=2.4</a:t>
            </a:r>
          </a:p>
          <a:p>
            <a:r>
              <a:rPr lang="fr-FR" sz="2000" dirty="0">
                <a:latin typeface="Aptos Display" panose="020B0004020202020204" pitchFamily="34" charset="0"/>
              </a:rPr>
              <a:t>New Velocity </a:t>
            </a:r>
            <a:r>
              <a:rPr lang="fr-FR" sz="2000" dirty="0" err="1">
                <a:latin typeface="Aptos Display" panose="020B0004020202020204" pitchFamily="34" charset="0"/>
              </a:rPr>
              <a:t>is</a:t>
            </a:r>
            <a:r>
              <a:rPr lang="fr-FR" sz="2000" dirty="0">
                <a:latin typeface="Aptos Display" panose="020B0004020202020204" pitchFamily="34" charset="0"/>
              </a:rPr>
              <a:t> 2.4</a:t>
            </a:r>
          </a:p>
        </p:txBody>
      </p:sp>
    </p:spTree>
    <p:extLst>
      <p:ext uri="{BB962C8B-B14F-4D97-AF65-F5344CB8AC3E}">
        <p14:creationId xmlns:p14="http://schemas.microsoft.com/office/powerpoint/2010/main" val="12741206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CF4DCF-18C1-00C1-E4EB-F09F7D556D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E27463-BD86-199A-EE2B-6D89A817549A}"/>
              </a:ext>
            </a:extLst>
          </p:cNvPr>
          <p:cNvSpPr txBox="1"/>
          <p:nvPr/>
        </p:nvSpPr>
        <p:spPr>
          <a:xfrm>
            <a:off x="0" y="0"/>
            <a:ext cx="12192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 Black" panose="020B0A04020102020204" pitchFamily="34" charset="0"/>
              </a:rPr>
              <a:t>Position Update</a:t>
            </a:r>
          </a:p>
          <a:p>
            <a:endParaRPr lang="en-US" sz="2400" dirty="0">
              <a:latin typeface="Arial Black" panose="020B0A04020102020204" pitchFamily="34" charset="0"/>
            </a:endParaRPr>
          </a:p>
          <a:p>
            <a:r>
              <a:rPr lang="en-US" sz="2400" dirty="0" err="1">
                <a:latin typeface="Aptos Display" panose="020B0004020202020204" pitchFamily="34" charset="0"/>
              </a:rPr>
              <a:t>Particle.L</a:t>
            </a:r>
            <a:r>
              <a:rPr lang="en-US" sz="2400" dirty="0">
                <a:latin typeface="Aptos Display" panose="020B0004020202020204" pitchFamily="34" charset="0"/>
              </a:rPr>
              <a:t>=round(</a:t>
            </a:r>
            <a:r>
              <a:rPr lang="en-US" sz="2400" dirty="0" err="1">
                <a:latin typeface="Aptos Display" panose="020B0004020202020204" pitchFamily="34" charset="0"/>
              </a:rPr>
              <a:t>L+velocity</a:t>
            </a:r>
            <a:r>
              <a:rPr lang="en-US" sz="2400" dirty="0">
                <a:latin typeface="Aptos Display" panose="020B0004020202020204" pitchFamily="34" charset="0"/>
              </a:rPr>
              <a:t>)</a:t>
            </a:r>
          </a:p>
          <a:p>
            <a:endParaRPr lang="en-US" sz="2400" dirty="0">
              <a:latin typeface="Aptos Display" panose="020B0004020202020204" pitchFamily="34" charset="0"/>
            </a:endParaRPr>
          </a:p>
          <a:p>
            <a:r>
              <a:rPr lang="en-US" sz="2400" dirty="0">
                <a:latin typeface="Aptos Display" panose="020B0004020202020204" pitchFamily="34" charset="0"/>
              </a:rPr>
              <a:t>L=4+2.4</a:t>
            </a:r>
            <a:r>
              <a:rPr lang="en-IN" sz="2400" dirty="0">
                <a:latin typeface="Aptos Display" panose="020B0004020202020204" pitchFamily="34" charset="0"/>
              </a:rPr>
              <a:t>=6.4</a:t>
            </a:r>
            <a:endParaRPr lang="en-US" sz="2400" dirty="0">
              <a:latin typeface="Aptos Display" panose="020B0004020202020204" pitchFamily="34" charset="0"/>
            </a:endParaRPr>
          </a:p>
          <a:p>
            <a:r>
              <a:rPr lang="en-US" sz="2400" dirty="0">
                <a:latin typeface="Aptos Display" panose="020B0004020202020204" pitchFamily="34" charset="0"/>
              </a:rPr>
              <a:t>L=6</a:t>
            </a:r>
          </a:p>
          <a:p>
            <a:endParaRPr lang="en-US" sz="2400" dirty="0"/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ptos Display" panose="020B0004020202020204" pitchFamily="34" charset="0"/>
              </a:rPr>
              <a:t>Random Reset of Other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Aptos Display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Aptos Display" panose="020B0004020202020204" pitchFamily="34" charset="0"/>
              </a:rPr>
              <a:t>We are changing only the Level(L) </a:t>
            </a:r>
            <a:r>
              <a:rPr lang="en-IN" sz="2400" dirty="0" err="1">
                <a:latin typeface="Aptos Display" panose="020B0004020202020204" pitchFamily="34" charset="0"/>
              </a:rPr>
              <a:t>parameter,moving</a:t>
            </a:r>
            <a:r>
              <a:rPr lang="en-IN" sz="2400" dirty="0">
                <a:latin typeface="Aptos Display" panose="020B0004020202020204" pitchFamily="34" charset="0"/>
              </a:rPr>
              <a:t> towards the </a:t>
            </a:r>
            <a:r>
              <a:rPr lang="en-IN" sz="2400" dirty="0" err="1">
                <a:latin typeface="Aptos Display" panose="020B0004020202020204" pitchFamily="34" charset="0"/>
              </a:rPr>
              <a:t>gbest</a:t>
            </a:r>
            <a:r>
              <a:rPr lang="en-IN" sz="2400" dirty="0">
                <a:latin typeface="Aptos Display" panose="020B00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873642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657BE3-BA93-EDDE-4AB6-6279617953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BC90A2-BEED-F4AA-965E-35B6DB0CCE0A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Arial Black" panose="020B0A04020102020204" pitchFamily="34" charset="0"/>
              </a:rPr>
              <a:t>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6F1780-61CA-629A-8753-FF92456F6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548" y="1052181"/>
            <a:ext cx="6658904" cy="475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5383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B7A1E9-6215-8109-8DF3-D7B9BF8DC7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603BFC-295D-97FE-B77C-CE2BA7553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099" y="822960"/>
            <a:ext cx="9253801" cy="4897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9607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A587BD-F120-4A15-EA65-B6C6553BE7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2753E2-F5F9-9AD3-9693-548FB496AC78}"/>
              </a:ext>
            </a:extLst>
          </p:cNvPr>
          <p:cNvSpPr txBox="1"/>
          <p:nvPr/>
        </p:nvSpPr>
        <p:spPr>
          <a:xfrm>
            <a:off x="4671568" y="3105834"/>
            <a:ext cx="2848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Arial Black" panose="020B0A040201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5106875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827</TotalTime>
  <Words>1032</Words>
  <Application>Microsoft Office PowerPoint</Application>
  <PresentationFormat>Widescreen</PresentationFormat>
  <Paragraphs>291</Paragraphs>
  <Slides>23</Slides>
  <Notes>8</Notes>
  <HiddenSlides>0</HiddenSlides>
  <MMClips>1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Aptos Display</vt:lpstr>
      <vt:lpstr>Arial</vt:lpstr>
      <vt:lpstr>Arial Black</vt:lpstr>
      <vt:lpstr>Calibri</vt:lpstr>
      <vt:lpstr>Cambria Math</vt:lpstr>
      <vt:lpstr>Courier New</vt:lpstr>
      <vt:lpstr>Gill Sans Nova Light</vt:lpstr>
      <vt:lpstr>Sagona Book</vt:lpstr>
      <vt:lpstr>Times New Roman</vt:lpstr>
      <vt:lpstr>Wingdings</vt:lpstr>
      <vt:lpstr>Custom</vt:lpstr>
      <vt:lpstr>ECG Signal Denoising Using Wavelet Transform and Particle Swarm Optimization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Rupesh Namburi</dc:creator>
  <cp:lastModifiedBy>KARLAPATI SREESHANTH</cp:lastModifiedBy>
  <cp:revision>18</cp:revision>
  <dcterms:created xsi:type="dcterms:W3CDTF">2026-03-10T03:18:57Z</dcterms:created>
  <dcterms:modified xsi:type="dcterms:W3CDTF">2026-03-11T04:44:12Z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