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67" r:id="rId3"/>
    <p:sldId id="278" r:id="rId4"/>
    <p:sldId id="279" r:id="rId5"/>
    <p:sldId id="280" r:id="rId6"/>
    <p:sldId id="281" r:id="rId7"/>
    <p:sldId id="282" r:id="rId8"/>
    <p:sldId id="283" r:id="rId9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howGuides="1">
      <p:cViewPr varScale="1">
        <p:scale>
          <a:sx n="119" d="100"/>
          <a:sy n="119" d="100"/>
        </p:scale>
        <p:origin x="96" y="414"/>
      </p:cViewPr>
      <p:guideLst>
        <p:guide orient="horz" pos="2160"/>
        <p:guide pos="3839"/>
        <p:guide pos="100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7646E-8811-423A-9C42-2CBFADA00A9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60E59-1627-4404-ACC5-51C744AB0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677E230-58DD-43ED-96A1-552DDAB53532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41221E5-7225-48EB-A4EE-420E7BFCF7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 bwMode="ltGray">
          <a:xfrm>
            <a:off x="121888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 bwMode="gray">
          <a:xfrm>
            <a:off x="0" y="0"/>
            <a:ext cx="121888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3" name="Straight Connector 12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5" name="Straight Connector 14"/>
          <p:cNvCxnSpPr/>
          <p:nvPr/>
        </p:nvCxnSpPr>
        <p:spPr bwMode="white">
          <a:xfrm>
            <a:off x="1218884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white">
          <a:xfrm>
            <a:off x="0" y="5631204"/>
            <a:ext cx="182832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6412" y="6356351"/>
            <a:ext cx="609441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95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2/5/2026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53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 bwMode="black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 bwMode="gray">
          <a:xfrm>
            <a:off x="1216152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22" name="Straight Connector 21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8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23" name="Straight Connector 22"/>
          <p:cNvCxnSpPr/>
          <p:nvPr/>
        </p:nvCxnSpPr>
        <p:spPr bwMode="white">
          <a:xfrm>
            <a:off x="1216152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 bwMode="black">
          <a:xfrm>
            <a:off x="11579384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 bwMode="gray">
          <a:xfrm>
            <a:off x="11274663" y="0"/>
            <a:ext cx="304721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 bwMode="gray">
          <a:xfrm>
            <a:off x="1218883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-2" y="0"/>
            <a:ext cx="1218883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 bwMode="ltGray">
          <a:xfrm>
            <a:off x="0" y="0"/>
            <a:ext cx="12188825" cy="6096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1" name="Straight Connector 30"/>
          <p:cNvCxnSpPr/>
          <p:nvPr/>
        </p:nvCxnSpPr>
        <p:spPr bwMode="white">
          <a:xfrm>
            <a:off x="11573293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 bwMode="black">
          <a:xfrm>
            <a:off x="0" y="0"/>
            <a:ext cx="1216152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3" name="Straight Connector 32"/>
          <p:cNvCxnSpPr/>
          <p:nvPr/>
        </p:nvCxnSpPr>
        <p:spPr bwMode="white">
          <a:xfrm>
            <a:off x="1218884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613" y="1600201"/>
            <a:ext cx="8283272" cy="2654064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8613" y="4259996"/>
            <a:ext cx="7264623" cy="115020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6571" y="6356351"/>
            <a:ext cx="609441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46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1651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2/5/2026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911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93436" y="2514706"/>
            <a:ext cx="4814586" cy="365749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7349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7349" y="2514600"/>
            <a:ext cx="4818888" cy="365556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2/5/2026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835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2/5/2026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357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ltGray">
          <a:xfrm>
            <a:off x="626239" y="0"/>
            <a:ext cx="30472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6" name="Rectangle 5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7" name="Straight Connector 6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 bwMode="gray">
          <a:xfrm>
            <a:off x="10969942" y="0"/>
            <a:ext cx="922621" cy="6858000"/>
          </a:xfrm>
          <a:prstGeom prst="rect">
            <a:avLst/>
          </a:prstGeom>
          <a:solidFill>
            <a:schemeClr val="accent1">
              <a:lumMod val="75000"/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black">
          <a:xfrm>
            <a:off x="11892563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2/5/2026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C1BBB0-96F0-4077-A278-0F3FB5C104D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38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>
            <a:off x="621792" y="0"/>
            <a:ext cx="414771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lt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621792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0251" y="482600"/>
            <a:ext cx="6195986" cy="5689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2/5/2026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804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ltGray">
          <a:xfrm>
            <a:off x="4875530" y="0"/>
            <a:ext cx="7017034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 bwMode="auto">
          <a:xfrm>
            <a:off x="5180251" y="482600"/>
            <a:ext cx="6195986" cy="5689600"/>
          </a:xfrm>
          <a:ln w="1905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11879867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90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2/5/2026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088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Straight Connector 10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"/>
          <p:cNvSpPr>
            <a:spLocks/>
          </p:cNvSpPr>
          <p:nvPr/>
        </p:nvSpPr>
        <p:spPr bwMode="white">
          <a:xfrm rot="5400000"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9612" y="685800"/>
            <a:ext cx="178752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98613" y="685800"/>
            <a:ext cx="7848599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2/5/2026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281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"/>
          <p:cNvSpPr>
            <a:spLocks/>
          </p:cNvSpPr>
          <p:nvPr/>
        </p:nvSpPr>
        <p:spPr bwMode="white">
          <a:xfrm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6" name="Straight Connector 15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all" baseline="0">
                <a:solidFill>
                  <a:schemeClr val="tx1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2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400"/>
        </a:spcBef>
        <a:buFont typeface="Euphemia" pitchFamily="34" charset="0"/>
        <a:buChar char="›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26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784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24688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0992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07568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45940" y="1988840"/>
            <a:ext cx="8761079" cy="1659161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efficient ECG signals denoising technique based on the combination of particle swarm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optimisation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wavelet transform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269876" y="20198"/>
            <a:ext cx="9782801" cy="835942"/>
          </a:xfrm>
        </p:spPr>
        <p:txBody>
          <a:bodyPr/>
          <a:lstStyle/>
          <a:p>
            <a:r>
              <a:rPr lang="en-US" dirty="0"/>
              <a:t>Update: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ontent Placeholder 13"/>
              <p:cNvSpPr>
                <a:spLocks noGrp="1"/>
              </p:cNvSpPr>
              <p:nvPr>
                <p:ph idx="1"/>
              </p:nvPr>
            </p:nvSpPr>
            <p:spPr>
              <a:xfrm>
                <a:off x="1413892" y="1268760"/>
                <a:ext cx="9962345" cy="5184576"/>
              </a:xfrm>
            </p:spPr>
            <p:txBody>
              <a:bodyPr>
                <a:normAutofit/>
              </a:bodyPr>
              <a:lstStyle/>
              <a:p>
                <a:r>
                  <a:rPr lang="en-IN" dirty="0"/>
                  <a:t>Wavelet Basis Function Plotting:</a:t>
                </a:r>
              </a:p>
              <a:p>
                <a:pPr lvl="2"/>
                <a:r>
                  <a:rPr lang="en-IN" dirty="0"/>
                  <a:t>Implemented and visualized wavelet basis functions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IN" dirty="0"/>
                  <a:t>by varying both scale (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dirty="0"/>
                  <a:t>) and shift (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  <a:p>
                <a:pPr lvl="2"/>
                <a:r>
                  <a:rPr lang="en-US" dirty="0"/>
                  <a:t>Demonstrated the effects of scaling and shifting on wavelet basis functions using MATLAB plot.</a:t>
                </a:r>
                <a:endParaRPr lang="en-IN" dirty="0"/>
              </a:p>
              <a:p>
                <a:r>
                  <a:rPr lang="en-US" dirty="0"/>
                  <a:t>Evaluation of Noise Removal Capability:</a:t>
                </a:r>
              </a:p>
              <a:p>
                <a:pPr lvl="2"/>
                <a:r>
                  <a:rPr lang="en-US" dirty="0"/>
                  <a:t>Analyzed how varying noise levels impact the quality of reconstructed ECG signals</a:t>
                </a:r>
              </a:p>
              <a:p>
                <a:pPr lvl="2"/>
                <a:r>
                  <a:rPr lang="en-US" dirty="0"/>
                  <a:t>Compared noisy and denoised ECG signals across increasing noise intensities to determine the maximum noise level at which the original ECG morphology can be preserved</a:t>
                </a:r>
                <a:endParaRPr lang="en-IN" dirty="0"/>
              </a:p>
              <a:p>
                <a:r>
                  <a:rPr lang="en-US" dirty="0"/>
                  <a:t>Reconstruction and Testing on Multiple Datasets:</a:t>
                </a:r>
              </a:p>
              <a:p>
                <a:pPr lvl="2"/>
                <a:r>
                  <a:rPr lang="en-US" dirty="0"/>
                  <a:t>Tested the wavelet-based denoising and reconstruction process on different ECG datasets.</a:t>
                </a:r>
              </a:p>
              <a:p>
                <a:pPr lvl="2"/>
                <a:endParaRPr lang="en-US" dirty="0"/>
              </a:p>
            </p:txBody>
          </p:sp>
        </mc:Choice>
        <mc:Fallback>
          <p:sp>
            <p:nvSpPr>
              <p:cNvPr id="14" name="Content Placeholder 1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13892" y="1268760"/>
                <a:ext cx="9962345" cy="5184576"/>
              </a:xfrm>
              <a:blipFill>
                <a:blip r:embed="rId2"/>
                <a:stretch>
                  <a:fillRect l="-1469" t="-2820" r="-12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60625-AA24-3E2D-76F1-CE59374A2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011" y="34970"/>
            <a:ext cx="9782801" cy="731837"/>
          </a:xfrm>
        </p:spPr>
        <p:txBody>
          <a:bodyPr/>
          <a:lstStyle/>
          <a:p>
            <a:r>
              <a:rPr lang="en-IN" dirty="0"/>
              <a:t>Wavelet Basis Function Plotting: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A46F1-A301-0BFA-2114-9FAF57C9B7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03012" y="836712"/>
                <a:ext cx="10173226" cy="5335488"/>
              </a:xfrm>
            </p:spPr>
            <p:txBody>
              <a:bodyPr>
                <a:normAutofit/>
              </a:bodyPr>
              <a:lstStyle/>
              <a:p>
                <a:r>
                  <a:rPr lang="en-I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DWT is defines as :</a:t>
                </a:r>
              </a:p>
              <a:p>
                <a:pPr marL="1097280" lvl="3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sub>
                        <m:sup/>
                        <m:e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nary>
                      <m:r>
                        <a:rPr lang="en-I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I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3">
                  <a:buFont typeface="Arial" panose="020B0604020202020204" pitchFamily="34" charset="0"/>
                  <a:buChar char="•"/>
                </a:pPr>
                <a:r>
                  <a:rPr lang="en-US" dirty="0"/>
                  <a:t>C(</a:t>
                </a:r>
                <a:r>
                  <a:rPr lang="en-US" dirty="0" err="1"/>
                  <a:t>a,b</a:t>
                </a:r>
                <a:r>
                  <a:rPr lang="en-US" dirty="0"/>
                  <a:t>): Wavelet coefficient representing signal content at scale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and location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IN" dirty="0"/>
              </a:p>
              <a:p>
                <a:pPr lvl="3">
                  <a:buFont typeface="Arial" panose="020B0604020202020204" pitchFamily="34" charset="0"/>
                  <a:buChar char="•"/>
                </a:pPr>
                <a:r>
                  <a:rPr lang="en-IN" dirty="0"/>
                  <a:t>x(n): Input signal (ECG signal)</a:t>
                </a:r>
              </a:p>
              <a:p>
                <a:pPr lvl="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ar-AE" dirty="0"/>
                  <a:t>: </a:t>
                </a:r>
                <a:r>
                  <a:rPr lang="en-IN" dirty="0"/>
                  <a:t>Wavelet basis function used for analysis</a:t>
                </a:r>
                <a:endParaRPr lang="en-I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/>
                  <a:t>Wavelet Basis Function:</a:t>
                </a:r>
              </a:p>
              <a:p>
                <a:pPr marL="1463040" lvl="4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I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I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I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I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</m:d>
                      <m:r>
                        <a:rPr lang="en-IN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I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I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m:rPr>
                              <m:lit/>
                            </m:rPr>
                            <a:rPr lang="en-I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/</m:t>
                          </m:r>
                          <m:r>
                            <a:rPr lang="en-I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𝑔</m:t>
                      </m:r>
                      <m:d>
                        <m:dPr>
                          <m:ctrlPr>
                            <a:rPr lang="en-I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IN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p>
                          </m:sSup>
                          <m:r>
                            <a:rPr lang="en-I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I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I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I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4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𝑔</m:t>
                        </m:r>
                      </m:e>
                      <m:sub>
                        <m:r>
                          <a:rPr lang="ar-AE" i="1"/>
                          <m:t>𝑗</m:t>
                        </m:r>
                        <m:r>
                          <a:rPr lang="ar-AE"/>
                          <m:t>,</m:t>
                        </m:r>
                        <m:r>
                          <a:rPr lang="ar-AE" i="1"/>
                          <m:t>𝑘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𝑛</m:t>
                        </m:r>
                      </m:e>
                    </m:d>
                  </m:oMath>
                </a14:m>
                <a:r>
                  <a:rPr lang="ar-AE" dirty="0"/>
                  <a:t>: </a:t>
                </a:r>
                <a:r>
                  <a:rPr lang="en-IN" dirty="0"/>
                  <a:t>Wavelet basis function at scale </a:t>
                </a:r>
                <a14:m>
                  <m:oMath xmlns:m="http://schemas.openxmlformats.org/officeDocument/2006/math">
                    <m:r>
                      <a:rPr lang="en-IN" i="1"/>
                      <m:t>𝑗</m:t>
                    </m:r>
                  </m:oMath>
                </a14:m>
                <a:r>
                  <a:rPr lang="en-IN" dirty="0"/>
                  <a:t>and shift </a:t>
                </a:r>
                <a14:m>
                  <m:oMath xmlns:m="http://schemas.openxmlformats.org/officeDocument/2006/math">
                    <m:r>
                      <a:rPr lang="en-IN" i="1"/>
                      <m:t>𝑘</m:t>
                    </m:r>
                  </m:oMath>
                </a14:m>
                <a:endParaRPr lang="en-IN" dirty="0"/>
              </a:p>
              <a:p>
                <a:pPr lvl="4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i="1"/>
                      <m:t>𝑔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𝑛</m:t>
                        </m:r>
                      </m:e>
                    </m:d>
                  </m:oMath>
                </a14:m>
                <a:r>
                  <a:rPr lang="ar-AE" dirty="0"/>
                  <a:t>: </a:t>
                </a:r>
                <a:r>
                  <a:rPr lang="en-IN" dirty="0"/>
                  <a:t>Mother wavelet</a:t>
                </a:r>
              </a:p>
              <a:p>
                <a:pPr lvl="4">
                  <a:buFont typeface="Arial" panose="020B0604020202020204" pitchFamily="34" charset="0"/>
                  <a:buChar char="•"/>
                </a:pPr>
                <a:r>
                  <a:rPr lang="en-US" dirty="0"/>
                  <a:t>j: Scale parameter controlling time–frequency resolution</a:t>
                </a:r>
              </a:p>
              <a:p>
                <a:pPr lvl="4">
                  <a:buFont typeface="Arial" panose="020B0604020202020204" pitchFamily="34" charset="0"/>
                  <a:buChar char="•"/>
                </a:pPr>
                <a:r>
                  <a:rPr lang="en-US" dirty="0"/>
                  <a:t>k: Shift parameter controlling time localization</a:t>
                </a:r>
              </a:p>
              <a:p>
                <a:pPr lvl="4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/>
                      <m:t>𝑛</m:t>
                    </m:r>
                  </m:oMath>
                </a14:m>
                <a:r>
                  <a:rPr lang="en-IN" dirty="0"/>
                  <a:t>: Discrete time index</a:t>
                </a:r>
                <a:endParaRPr lang="en-I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31520" lvl="2" indent="0">
                  <a:buNone/>
                </a:pPr>
                <a:r>
                  <a:rPr lang="en-I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   </a:t>
                </a:r>
              </a:p>
              <a:p>
                <a:pPr lvl="3">
                  <a:buFont typeface="Arial" panose="020B0604020202020204" pitchFamily="34" charset="0"/>
                  <a:buChar char="•"/>
                </a:pPr>
                <a:endParaRPr lang="en-I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097280" lvl="3" indent="0"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A46F1-A301-0BFA-2114-9FAF57C9B7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03012" y="836712"/>
                <a:ext cx="10173226" cy="5335488"/>
              </a:xfrm>
              <a:blipFill>
                <a:blip r:embed="rId2"/>
                <a:stretch>
                  <a:fillRect l="-1378" t="-29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6122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B801F-6C78-46FE-46C7-EABFA02A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3893" y="116632"/>
            <a:ext cx="9505056" cy="648072"/>
          </a:xfrm>
        </p:spPr>
        <p:txBody>
          <a:bodyPr/>
          <a:lstStyle/>
          <a:p>
            <a:r>
              <a:rPr lang="en-IN" dirty="0"/>
              <a:t>PLOTS: (Basis Function plotting)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9B31F3-357F-B102-3C17-BBC0E9B4A8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30116" y="764704"/>
            <a:ext cx="4248472" cy="295369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DA85DB-5AFA-331E-EB5B-06D0CA952B90}"/>
                  </a:ext>
                </a:extLst>
              </p:cNvPr>
              <p:cNvSpPr txBox="1"/>
              <p:nvPr/>
            </p:nvSpPr>
            <p:spPr>
              <a:xfrm>
                <a:off x="1269876" y="3861048"/>
                <a:ext cx="10585176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non-zero samples indicate where the </a:t>
                </a:r>
                <a:r>
                  <a:rPr lang="en-US" b="1" dirty="0"/>
                  <a:t>scaled and shifted mother wavelet</a:t>
                </a:r>
                <a:r>
                  <a:rPr lang="en-US" dirty="0"/>
                  <a:t> is active; zeros elsewhere show time localization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Changing </a:t>
                </a:r>
                <a14:m>
                  <m:oMath xmlns:m="http://schemas.openxmlformats.org/officeDocument/2006/math">
                    <m:r>
                      <a:rPr lang="en-US" i="1"/>
                      <m:t>𝑘</m:t>
                    </m:r>
                  </m:oMath>
                </a14:m>
                <a:r>
                  <a:rPr lang="en-US" dirty="0"/>
                  <a:t>would shift this shape along the time axis, while changing </a:t>
                </a:r>
                <a14:m>
                  <m:oMath xmlns:m="http://schemas.openxmlformats.org/officeDocument/2006/math">
                    <m:r>
                      <a:rPr lang="en-US" i="1"/>
                      <m:t>𝑗</m:t>
                    </m:r>
                  </m:oMath>
                </a14:m>
                <a:r>
                  <a:rPr lang="en-US" dirty="0"/>
                  <a:t>would compress or expand it in time.</a:t>
                </a:r>
              </a:p>
              <a:p>
                <a:endParaRPr lang="en-US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DA85DB-5AFA-331E-EB5B-06D0CA952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876" y="3861048"/>
                <a:ext cx="10585176" cy="2031325"/>
              </a:xfrm>
              <a:prstGeom prst="rect">
                <a:avLst/>
              </a:prstGeom>
              <a:blipFill>
                <a:blip r:embed="rId3"/>
                <a:stretch>
                  <a:fillRect l="-345" t="-1796" r="-9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9825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1886D-D4EE-76F4-8D15-E1E0AD4CB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CA538-6A60-A1F0-8379-C02C84344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3893" y="116632"/>
            <a:ext cx="9505056" cy="648072"/>
          </a:xfrm>
        </p:spPr>
        <p:txBody>
          <a:bodyPr/>
          <a:lstStyle/>
          <a:p>
            <a:r>
              <a:rPr lang="en-IN" dirty="0"/>
              <a:t>PLOTS: (Shifting and Scaling)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8B2DF67-949B-2482-9D55-3B9582970F0B}"/>
                  </a:ext>
                </a:extLst>
              </p:cNvPr>
              <p:cNvSpPr txBox="1"/>
              <p:nvPr/>
            </p:nvSpPr>
            <p:spPr>
              <a:xfrm>
                <a:off x="1318510" y="4134177"/>
                <a:ext cx="4775902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Each subplot shows the </a:t>
                </a:r>
                <a:r>
                  <a:rPr lang="en-US" i="1" dirty="0"/>
                  <a:t>same wavelet shape</a:t>
                </a:r>
                <a:r>
                  <a:rPr lang="en-US" dirty="0"/>
                  <a:t> shifted along the time axis for different values of </a:t>
                </a:r>
                <a14:m>
                  <m:oMath xmlns:m="http://schemas.openxmlformats.org/officeDocument/2006/math">
                    <m:r>
                      <a:rPr lang="en-US" i="1"/>
                      <m:t>𝑘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This demonstrates the time localization property of wavelets changing </a:t>
                </a:r>
                <a14:m>
                  <m:oMath xmlns:m="http://schemas.openxmlformats.org/officeDocument/2006/math">
                    <m:r>
                      <a:rPr lang="en-US" i="1"/>
                      <m:t>𝑘</m:t>
                    </m:r>
                  </m:oMath>
                </a14:m>
                <a:r>
                  <a:rPr lang="en-US" dirty="0"/>
                  <a:t> moves the basis function without altering its shape.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8B2DF67-949B-2482-9D55-3B9582970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510" y="4134177"/>
                <a:ext cx="4775902" cy="2585323"/>
              </a:xfrm>
              <a:prstGeom prst="rect">
                <a:avLst/>
              </a:prstGeom>
              <a:blipFill>
                <a:blip r:embed="rId2"/>
                <a:stretch>
                  <a:fillRect l="-765" t="-14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1520D402-146F-0248-0AC1-948AA037B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158" y="764704"/>
            <a:ext cx="4479649" cy="32107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1B5221-5FF0-D3AC-DDFA-46EA8D25A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3893" y="788548"/>
            <a:ext cx="4479649" cy="334470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9CE4CF-71DC-D47B-8CF1-F9AAD6CF8DA2}"/>
                  </a:ext>
                </a:extLst>
              </p:cNvPr>
              <p:cNvSpPr txBox="1"/>
              <p:nvPr/>
            </p:nvSpPr>
            <p:spPr>
              <a:xfrm>
                <a:off x="6598468" y="3995678"/>
                <a:ext cx="468052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As </a:t>
                </a:r>
                <a14:m>
                  <m:oMath xmlns:m="http://schemas.openxmlformats.org/officeDocument/2006/math">
                    <m:r>
                      <a:rPr lang="en-US" i="1"/>
                      <m:t>𝑗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increases, the wavelet becomes more compressed in time.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This plot demonstrates how changing the scale parameter </a:t>
                </a:r>
                <a14:m>
                  <m:oMath xmlns:m="http://schemas.openxmlformats.org/officeDocument/2006/math">
                    <m:r>
                      <a:rPr lang="en-US" i="1"/>
                      <m:t>𝑗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alters the width of the wavelet basis function.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9CE4CF-71DC-D47B-8CF1-F9AAD6CF8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8468" y="3995678"/>
                <a:ext cx="4680520" cy="2031325"/>
              </a:xfrm>
              <a:prstGeom prst="rect">
                <a:avLst/>
              </a:prstGeom>
              <a:blipFill>
                <a:blip r:embed="rId5"/>
                <a:stretch>
                  <a:fillRect l="-781" t="-1796" r="-19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22044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C3895-D95A-E90C-7FB8-043F43DF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of Noise Removal Capability Using Wavelet Denoising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475246-A4D9-2C32-068C-D8E45D0CEA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01924" y="2276872"/>
                <a:ext cx="9782801" cy="3052936"/>
              </a:xfrm>
            </p:spPr>
            <p:txBody>
              <a:bodyPr/>
              <a:lstStyle/>
              <a:p>
                <a:r>
                  <a:rPr lang="en-US" sz="2000" dirty="0"/>
                  <a:t>Clean ECG signal was corrupted with Additive White Gaussian Noise (AWGN) at different noise levels:</a:t>
                </a:r>
              </a:p>
              <a:p>
                <a:pPr marL="73152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800" i="1"/>
                        <m:t>  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800" i="1"/>
                        <m:t>  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800" i="1"/>
                        <m:t>  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800" i="1"/>
                        <m:t>  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sz="2000" dirty="0"/>
              </a:p>
              <a:p>
                <a:r>
                  <a:rPr lang="en-US" sz="2000" dirty="0"/>
                  <a:t>The noisy ECG signal was decomposed using a multi-level discrete wavelet transform (DWT).</a:t>
                </a:r>
              </a:p>
              <a:p>
                <a:r>
                  <a:rPr lang="en-US" sz="2000" dirty="0"/>
                  <a:t>Soft thresholding was applied to the detail coefficients to suppress noise.</a:t>
                </a:r>
              </a:p>
              <a:p>
                <a:r>
                  <a:rPr lang="en-US" sz="2000" dirty="0"/>
                  <a:t>The ECG signal was reconstructed using inverse wavelet transform.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475246-A4D9-2C32-068C-D8E45D0CEA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01924" y="2276872"/>
                <a:ext cx="9782801" cy="3052936"/>
              </a:xfrm>
              <a:blipFill>
                <a:blip r:embed="rId2"/>
                <a:stretch>
                  <a:fillRect l="-810" t="-32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6056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DBC532-9AED-FB30-E77A-C06A0809BE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7722" t="2587" r="5024" b="1233"/>
          <a:stretch>
            <a:fillRect/>
          </a:stretch>
        </p:blipFill>
        <p:spPr>
          <a:xfrm>
            <a:off x="1773932" y="1470"/>
            <a:ext cx="9033648" cy="56760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CE6DA6-D27B-8032-CE7A-5165EA228B31}"/>
              </a:ext>
            </a:extLst>
          </p:cNvPr>
          <p:cNvSpPr txBox="1"/>
          <p:nvPr/>
        </p:nvSpPr>
        <p:spPr>
          <a:xfrm>
            <a:off x="1269876" y="5517232"/>
            <a:ext cx="10441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 lower noise levels (0.1–0.25), the denoised ECG closely matches the original morphology, including clear QRS complexes.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the noise level increases, the noisy signal becomes highly distorted, but the wavelet denoising method still preserves major ECG features.</a:t>
            </a:r>
          </a:p>
        </p:txBody>
      </p:sp>
    </p:spTree>
    <p:extLst>
      <p:ext uri="{BB962C8B-B14F-4D97-AF65-F5344CB8AC3E}">
        <p14:creationId xmlns:p14="http://schemas.microsoft.com/office/powerpoint/2010/main" val="171858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87F35-A6E0-4EAF-DA44-3E83C3CF6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884" y="0"/>
            <a:ext cx="9433049" cy="1124744"/>
          </a:xfrm>
        </p:spPr>
        <p:txBody>
          <a:bodyPr>
            <a:normAutofit fontScale="90000"/>
          </a:bodyPr>
          <a:lstStyle/>
          <a:p>
            <a:r>
              <a:rPr lang="en-US" dirty="0"/>
              <a:t>Reconstruction and Testing on Multiple Datasets:</a:t>
            </a:r>
            <a:br>
              <a:rPr lang="en-US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688295-B772-11A4-9956-32D77F8F8C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86500" y="645040"/>
            <a:ext cx="3749277" cy="2981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7DEEC8-FFEB-3368-20F2-64989FACB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956" y="840268"/>
            <a:ext cx="3682957" cy="26399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92414D-A27D-9930-FC5E-A1D164AF9E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0966" y="3617393"/>
            <a:ext cx="3863801" cy="29344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1BDD86-7777-EBD0-5AA3-95547B00FBD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445"/>
          <a:stretch>
            <a:fillRect/>
          </a:stretch>
        </p:blipFill>
        <p:spPr>
          <a:xfrm>
            <a:off x="6799601" y="3664749"/>
            <a:ext cx="3961549" cy="2934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996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th 16x9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9696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h education presentation with Pi  (widescreen).potx" id="{DF132673-7A8C-4FB7-A35E-0123B6C0D98B}" vid="{CCAAB50D-2EF2-4925-80C2-C83131AE58AC}"/>
    </a:ext>
  </a:extLst>
</a:theme>
</file>

<file path=ppt/theme/theme2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Math education presentation with Pi  (widescreen)</Template>
  <TotalTime>217</TotalTime>
  <Words>472</Words>
  <Application>Microsoft Office PowerPoint</Application>
  <PresentationFormat>Custom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Cambria Math</vt:lpstr>
      <vt:lpstr>Euphemia</vt:lpstr>
      <vt:lpstr>Times New Roman</vt:lpstr>
      <vt:lpstr>Math 16x9</vt:lpstr>
      <vt:lpstr>An efficient ECG signals denoising technique based on the combination of particle swarm optimisation and wavelet transform</vt:lpstr>
      <vt:lpstr>Update:</vt:lpstr>
      <vt:lpstr>Wavelet Basis Function Plotting:</vt:lpstr>
      <vt:lpstr>PLOTS: (Basis Function plotting)</vt:lpstr>
      <vt:lpstr>PLOTS: (Shifting and Scaling)</vt:lpstr>
      <vt:lpstr>Evaluation of Noise Removal Capability Using Wavelet Denoising</vt:lpstr>
      <vt:lpstr>PowerPoint Presentation</vt:lpstr>
      <vt:lpstr>Reconstruction and Testing on Multiple Datasets: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Rupesh Namburi</dc:creator>
  <cp:lastModifiedBy>Rupesh Namburi</cp:lastModifiedBy>
  <cp:revision>2</cp:revision>
  <dcterms:created xsi:type="dcterms:W3CDTF">2026-01-22T07:50:42Z</dcterms:created>
  <dcterms:modified xsi:type="dcterms:W3CDTF">2026-02-05T07:56:34Z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